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D2A28"/>
                </a:solidFill>
                <a:latin typeface="Arial"/>
              </a:defRPr>
            </a:pPr>
            <a:r>
              <a:rPr sz="1200" b="0" i="0" u="none" strike="noStrike">
                <a:solidFill>
                  <a:srgbClr val="1D2A28"/>
                </a:solidFill>
                <a:latin typeface="Arial"/>
              </a:rPr>
              <a:t>Timing-strategy Sharpe ratio vs. complexity c</a:t>
            </a:r>
          </a:p>
        </c:rich>
      </c:tx>
      <c:layout/>
      <c:overlay val="0"/>
    </c:title>
    <c:autoTitleDeleted val="0"/>
    <c:plotArea>
      <c:layout/>
      <c:lineChart>
        <c:varyColors val="0"/>
        <c:ser>
          <c:idx val="0"/>
          <c:order val="0"/>
          <c:tx>
            <c:strRef>
              <c:f>Sheet1!$B$1</c:f>
              <c:strCache>
                <c:ptCount val="1"/>
                <c:pt idx="0">
                  <c:v>Heavy shrinkage (z = 10³)</c:v>
                </c:pt>
              </c:strCache>
            </c:strRef>
          </c:tx>
          <c:spPr>
            <a:solidFill>
              <a:srgbClr val="C06A33"/>
            </a:solidFill>
            <a:ln w="31750" cap="flat">
              <a:solidFill>
                <a:srgbClr val="C06A3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6A33"/>
              </a:solidFill>
              <a:ln w="9525" cap="flat">
                <a:solidFill>
                  <a:srgbClr val="C06A33"/>
                </a:solidFill>
                <a:prstDash val="solid"/>
                <a:round/>
              </a:ln>
              <a:effectLst/>
            </c:spPr>
          </c:marker>
          <c:cat>
            <c:multiLvlStrRef>
              <c:f>Sheet1!$A$2:$A$12</c:f>
              <c:multiLvlStrCache>
                <c:ptCount val="11"/>
                <c:lvl>
                  <c:pt idx="0">
                    <c:v>0.17</c:v>
                  </c:pt>
                  <c:pt idx="1">
                    <c:v>0.5</c:v>
                  </c:pt>
                  <c:pt idx="2">
                    <c:v>1</c:v>
                  </c:pt>
                  <c:pt idx="3">
                    <c:v>2</c:v>
                  </c:pt>
                  <c:pt idx="4">
                    <c:v>5</c:v>
                  </c:pt>
                  <c:pt idx="5">
                    <c:v>10</c:v>
                  </c:pt>
                  <c:pt idx="6">
                    <c:v>50</c:v>
                  </c:pt>
                  <c:pt idx="7">
                    <c:v>100</c:v>
                  </c:pt>
                  <c:pt idx="8">
                    <c:v>250</c:v>
                  </c:pt>
                  <c:pt idx="9">
                    <c:v>500</c:v>
                  </c:pt>
                  <c:pt idx="10">
                    <c:v>1000</c:v>
                  </c:pt>
                </c:lvl>
              </c:multiLvlStrCache>
            </c:multiLvlStrRef>
          </c:cat>
          <c:val>
            <c:numRef>
              <c:f>Sheet1!$B$2:$B$12</c:f>
              <c:numCache>
                <c:formatCode>General</c:formatCode>
                <c:ptCount val="11"/>
                <c:pt idx="0">
                  <c:v>0.245</c:v>
                </c:pt>
                <c:pt idx="1">
                  <c:v>0.307</c:v>
                </c:pt>
                <c:pt idx="2">
                  <c:v>0.382</c:v>
                </c:pt>
                <c:pt idx="3">
                  <c:v>0.391</c:v>
                </c:pt>
                <c:pt idx="4">
                  <c:v>0.4</c:v>
                </c:pt>
                <c:pt idx="5">
                  <c:v>0.401</c:v>
                </c:pt>
                <c:pt idx="6">
                  <c:v>0.405</c:v>
                </c:pt>
                <c:pt idx="7">
                  <c:v>0.404</c:v>
                </c:pt>
                <c:pt idx="8">
                  <c:v>0.407</c:v>
                </c:pt>
                <c:pt idx="9">
                  <c:v>0.403</c:v>
                </c:pt>
                <c:pt idx="10">
                  <c:v>0.39</c:v>
                </c:pt>
              </c:numCache>
            </c:numRef>
          </c:val>
          <c:smooth val="0"/>
        </c:ser>
        <c:ser>
          <c:idx val="1"/>
          <c:order val="1"/>
          <c:tx>
            <c:strRef>
              <c:f>Sheet1!$C$1</c:f>
              <c:strCache>
                <c:ptCount val="1"/>
                <c:pt idx="0">
                  <c:v>Near-ridgeless (z = 10⁻³)</c:v>
                </c:pt>
              </c:strCache>
            </c:strRef>
          </c:tx>
          <c:spPr>
            <a:solidFill>
              <a:srgbClr val="1F62B8"/>
            </a:solidFill>
            <a:ln w="31750" cap="flat">
              <a:solidFill>
                <a:srgbClr val="1F62B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62B8"/>
              </a:solidFill>
              <a:ln w="9525" cap="flat">
                <a:solidFill>
                  <a:srgbClr val="1F62B8"/>
                </a:solidFill>
                <a:prstDash val="solid"/>
                <a:round/>
              </a:ln>
              <a:effectLst/>
            </c:spPr>
          </c:marker>
          <c:cat>
            <c:multiLvlStrRef>
              <c:f>Sheet1!$A$2:$A$12</c:f>
              <c:multiLvlStrCache>
                <c:ptCount val="11"/>
                <c:lvl>
                  <c:pt idx="0">
                    <c:v>0.17</c:v>
                  </c:pt>
                  <c:pt idx="1">
                    <c:v>0.5</c:v>
                  </c:pt>
                  <c:pt idx="2">
                    <c:v>1</c:v>
                  </c:pt>
                  <c:pt idx="3">
                    <c:v>2</c:v>
                  </c:pt>
                  <c:pt idx="4">
                    <c:v>5</c:v>
                  </c:pt>
                  <c:pt idx="5">
                    <c:v>10</c:v>
                  </c:pt>
                  <c:pt idx="6">
                    <c:v>50</c:v>
                  </c:pt>
                  <c:pt idx="7">
                    <c:v>100</c:v>
                  </c:pt>
                  <c:pt idx="8">
                    <c:v>250</c:v>
                  </c:pt>
                  <c:pt idx="9">
                    <c:v>500</c:v>
                  </c:pt>
                  <c:pt idx="10">
                    <c:v>1000</c:v>
                  </c:pt>
                </c:lvl>
              </c:multiLvlStrCache>
            </c:multiLvlStrRef>
          </c:cat>
          <c:val>
            <c:numRef>
              <c:f>Sheet1!$C$2:$C$12</c:f>
              <c:numCache>
                <c:formatCode>General</c:formatCode>
                <c:ptCount val="11"/>
                <c:pt idx="0">
                  <c:v>0.194</c:v>
                </c:pt>
                <c:pt idx="1">
                  <c:v>0.217</c:v>
                </c:pt>
                <c:pt idx="2">
                  <c:v>0.078</c:v>
                </c:pt>
                <c:pt idx="3">
                  <c:v>0.243</c:v>
                </c:pt>
                <c:pt idx="4">
                  <c:v>0.307</c:v>
                </c:pt>
                <c:pt idx="5">
                  <c:v>0.325</c:v>
                </c:pt>
                <c:pt idx="6">
                  <c:v>0.335</c:v>
                </c:pt>
                <c:pt idx="7">
                  <c:v>0.326</c:v>
                </c:pt>
                <c:pt idx="8">
                  <c:v>0.328</c:v>
                </c:pt>
                <c:pt idx="9">
                  <c:v>0.329</c:v>
                </c:pt>
                <c:pt idx="10">
                  <c:v>0.326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4A5350"/>
                    </a:solidFill>
                    <a:latin typeface="Arial"/>
                  </a:defRPr>
                </a:pPr>
                <a:r>
                  <a:rPr sz="1000" b="0" i="0" u="none" strike="noStrike">
                    <a:solidFill>
                      <a:srgbClr val="4A5350"/>
                    </a:solidFill>
                    <a:latin typeface="Arial"/>
                  </a:rPr>
                  <a:t>Complexity c = P/T  (T = 12 months, 100 seeds)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A5350"/>
                </a:solidFill>
                <a:latin typeface="Arial"/>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9525" cap="flat">
              <a:solidFill>
                <a:srgbClr val="E2DAC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350"/>
                </a:solidFill>
                <a:latin typeface="Arial"/>
              </a:defRPr>
            </a:pPr>
            <a:endParaRPr lang="en-US"/>
          </a:p>
        </c:txPr>
        <c:crossAx val="2094734554"/>
        <c:crosses val="autoZero"/>
        <c:crossBetween val="between"/>
        <c:majorUnit val="0.1"/>
      </c:valAx>
      <c:spPr>
        <a:solidFill>
          <a:srgbClr val="FFFFFF"/>
        </a:solidFill>
        <a:ln>
          <a:noFill/>
        </a:ln>
        <a:effectLst/>
      </c:spPr>
    </c:plotArea>
    <c:legend>
      <c:legendPos val="b"/>
      <c:overlay val="0"/>
      <c:txPr>
        <a:bodyPr/>
        <a:lstStyle/>
        <a:p>
          <a:pPr>
            <a:defRPr sz="1000">
              <a:solidFill>
                <a:srgbClr val="4A535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Sharpe ratio</c:v>
                </c:pt>
              </c:strCache>
            </c:strRef>
          </c:tx>
          <c:spPr>
            <a:solidFill>
              <a:srgbClr val="C06A33"/>
            </a:solidFill>
            <a:effectLst/>
          </c:spPr>
          <c:invertIfNegative val="0"/>
          <c:dLbls>
            <c:numFmt formatCode="0.00" sourceLinked="0"/>
            <c:txPr>
              <a:bodyPr/>
              <a:lstStyle/>
              <a:p>
                <a:pPr>
                  <a:defRPr b="0" i="0" strike="noStrike" sz="1100" u="none">
                    <a:solidFill>
                      <a:srgbClr val="1D2A28"/>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 ridgeless</c:v>
                  </c:pt>
                  <c:pt idx="1">
                    <c:v>Linear, z = 10³</c:v>
                  </c:pt>
                  <c:pt idx="2">
                    <c:v>Complex, z = 10³</c:v>
                  </c:pt>
                </c:lvl>
              </c:multiLvlStrCache>
            </c:multiLvlStrRef>
          </c:cat>
          <c:val>
            <c:numRef>
              <c:f>Sheet1!$B$2:$B$4</c:f>
              <c:numCache>
                <c:formatCode>General</c:formatCode>
                <c:ptCount val="3"/>
                <c:pt idx="0">
                  <c:v>-0.11</c:v>
                </c:pt>
                <c:pt idx="1">
                  <c:v>0.46</c:v>
                </c:pt>
                <c:pt idx="2">
                  <c:v>0.47</c:v>
                </c:pt>
              </c:numCache>
            </c:numRef>
          </c:val>
        </c:ser>
        <c:ser>
          <c:idx val="1"/>
          <c:order val="1"/>
          <c:tx>
            <c:strRef>
              <c:f>Sheet1!$C$1</c:f>
              <c:strCache>
                <c:ptCount val="1"/>
                <c:pt idx="0">
                  <c:v>Information ratio vs. market</c:v>
                </c:pt>
              </c:strCache>
            </c:strRef>
          </c:tx>
          <c:spPr>
            <a:solidFill>
              <a:srgbClr val="1F62B8"/>
            </a:solidFill>
            <a:effectLst/>
          </c:spPr>
          <c:invertIfNegative val="0"/>
          <c:dLbls>
            <c:numFmt formatCode="0.00" sourceLinked="0"/>
            <c:txPr>
              <a:bodyPr/>
              <a:lstStyle/>
              <a:p>
                <a:pPr>
                  <a:defRPr b="0" i="0" strike="noStrike" sz="1100" u="none">
                    <a:solidFill>
                      <a:srgbClr val="1D2A28"/>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 ridgeless</c:v>
                  </c:pt>
                  <c:pt idx="1">
                    <c:v>Linear, z = 10³</c:v>
                  </c:pt>
                  <c:pt idx="2">
                    <c:v>Complex, z = 10³</c:v>
                  </c:pt>
                </c:lvl>
              </c:multiLvlStrCache>
            </c:multiLvlStrRef>
          </c:cat>
          <c:val>
            <c:numRef>
              <c:f>Sheet1!$C$2:$C$4</c:f>
              <c:numCache>
                <c:formatCode>General</c:formatCode>
                <c:ptCount val="3"/>
                <c:pt idx="0">
                  <c:v>-0.16</c:v>
                </c:pt>
                <c:pt idx="1">
                  <c:v>0.33</c:v>
                </c:pt>
                <c:pt idx="2">
                  <c:v>0.31</c:v>
                </c:pt>
              </c:numCache>
            </c:numRef>
          </c:val>
        </c:ser>
        <c:dLbls>
          <c:numFmt formatCode="0.00" sourceLinked="0"/>
          <c:txPr>
            <a:bodyPr/>
            <a:lstStyle/>
            <a:p>
              <a:pPr>
                <a:defRPr b="0" i="0" strike="noStrike" sz="1100" u="none">
                  <a:solidFill>
                    <a:srgbClr val="1D2A2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D2A28"/>
                </a:solidFill>
                <a:latin typeface="Arial"/>
              </a:defRPr>
            </a:pPr>
            <a:endParaRPr lang="en-US"/>
          </a:p>
        </c:txPr>
        <c:crossAx val="2094734552"/>
        <c:crosses val="autoZero"/>
        <c:auto val="1"/>
        <c:lblAlgn val="ctr"/>
        <c:noMultiLvlLbl val="1"/>
      </c:catAx>
      <c:valAx>
        <c:axId val="2094734552"/>
        <c:scaling>
          <c:orientation val="minMax"/>
          <c:max val="0.6"/>
          <c:min val="-0.3"/>
        </c:scaling>
        <c:delete val="0"/>
        <c:axPos val="l"/>
        <c:majorGridlines>
          <c:spPr>
            <a:ln w="9525" cap="flat">
              <a:solidFill>
                <a:srgbClr val="E2DAC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A5350"/>
                </a:solidFill>
                <a:latin typeface="Arial"/>
              </a:defRPr>
            </a:pPr>
            <a:endParaRPr lang="en-US"/>
          </a:p>
        </c:txPr>
        <c:crossAx val="2094734554"/>
        <c:crosses val="autoZero"/>
        <c:crossBetween val="between"/>
        <c:majorUnit val="0.3"/>
      </c:valAx>
      <c:spPr>
        <a:solidFill>
          <a:srgbClr val="FFFFFF"/>
        </a:solidFill>
        <a:ln>
          <a:noFill/>
        </a:ln>
        <a:effectLst/>
      </c:spPr>
    </c:plotArea>
    <c:legend>
      <c:legendPos val="b"/>
      <c:overlay val="0"/>
      <c:txPr>
        <a:bodyPr/>
        <a:lstStyle/>
        <a:p>
          <a:pPr>
            <a:defRPr sz="1000">
              <a:solidFill>
                <a:srgbClr val="4A535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Good morning. My second parent paper is The Virtue of Complexity in Return Prediction, by Bryan Kelly, Semyon Malamud and Kangying Zhou, published in the Journal of Finance in 2024. My first paper, by Khan and colleagues, compared nine machine learning models for predicting whether Tesla's stock would go up or down. This paper asks a more basic question behind that kind of work. When we use machine learning to predict stock returns, how complex should the model be? Their answer goes against what most of us learn in our first statistics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The goal is easy to state. If I have T months of data, how many parameters P should my model have? The textbook answer is to keep the model simple, because a model with too many parameters overfits. In finance, a well-known paper by Goyal and Welch from 2008 showed that the standard predictors of market returns fail when you test them out of sample. At the same time, machine learning models have done well in practice, but nobody had a solid theory explaining why. This matters because almost every machine learning model in finance, including the ones in my first paper, faces this choice. The authors claim that complexity is a virtue. More parameters help, even when there are more parameters than data points, as long as the model uses shrinkage. So the question in one line is on the right. Should a model have more parameters than data points? The textbook says no. This paper proves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The data is deliberately standard. The target is the monthly excess return of the CRSP value-weighted US stock market from 1926 to 2020. The inputs are 15 well-known predictors from Goyal and Welch, such as the dividend yield and the Treasury bill rate. Everything is standardized using only past data, so there is no lookahead bias. The paper has two parts: a mathematical proof and an empirical test that matches it. The pipeline on the right has five steps. First, they turn the 15 predictors into as many as 12,000 random features. Second, they fit a ridge regression, which shrinks the coefficients. Third, they train on a rolling window of only 12, 60 or 120 months. They use such short windows on purpose. With only 12 months of data, even a few hundred features puts the model far past the point where parameters outnumber data points. Fourth, the forecast becomes the size of the position in the market. Fifth, they repeat everything 1,000 times with new random features and average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Three ideas drive the model. The first is random Fourier features. Each feature is a sine or cosine of a random mix of the 15 predictors. This works like a very wide neural network, and it lets the authors add parameters without adding new information. The second is ridge shrinkage, controlled by z, which pulls the coefficients toward zero. The third is the interpolation boundary, where the number of parameters equals the number of data points and the model fits the training data exactly. That is the danger zone. The chart is my own replication of their core experiment using the authors' data. It ran on my laptop in about three minutes. The x-axis is complexity, parameters divided by data points. With almost no shrinkage, the blue line drops sharply at complexity one, right at the danger zone. With heavy shrinkage, the orange line rises and stays high, even at 12,000 parameters trained on only 12 months of data. That is the virtue of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This is Table I, the paper's main comparison, using the 12-month window. The Sharpe ratio measures return per unit of risk, and the information ratio measures the extra return after accounting for the market. On the left is the simple linear regression from Goyal and Welch with no shrinkage. Its Sharpe ratio is negative, so the authors reproduce the original failure. When they add ridge shrinkage to the same linear model, the Sharpe ratio jumps to 0.46. The complex model with 12,000 features reaches 0.47, with an information ratio of 0.31 against the market. Now the three numbers on the right. First, the complex model's out-of-sample R squared is only 0.6 percent. That is tiny, yet the strategy still makes money, which is the paper's point that R squared alone is a poor way to judge a trading model. Second, the alpha against the market has a t-statistic of 2.9, so it is statistically significant. Third, the strategy reduced its market position before 14 of the 15 recessions in the test sample, using only information available at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So what do we conclude? First, complexity is a virtue. Performance improves as the model grows, as long as shrinkage is applied. Second, R squared is incomplete. A model with a tiny R squared can still earn a strong Sharpe ratio. Third, this changes how we read Goyal and Welch. The predictors were not useless. The simple model without shrinkage was the problem. Fourth, the model learns sensible behavior on its own. It stays mostly long and steps out of the market before recessions. One caveat, which the paper reports itself, is that results are weaker after 1975. The lesson on the right: use the largest model you can compute, regularize it, and judge it by the money it makes, not only by its prediction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Why does this matter? First, reproducibility. Unlike my first paper, where the published code did not match the paper, this one can be checked. The official code is published with the journal and the data is free. I re-ran the core experiment on my laptop in three minutes. I got a Sharpe ratio of 0.40 and an information ratio of 0.26, compared with the paper's 0.47 and 0.31. The pattern is the same, and the small gap is likely because I used 100 random draws instead of 1,000. Second, it connects to my first paper. Khan and colleagues claim 85 to 91 percent accuracy on Tesla. This paper shows that with a strict out-of-sample design, realistic predictability is closer to an R squared of about one percent. On the right are the improvements I would make: add transaction costs and a leverage cap, test on data after 2020, separate the signal from momentum, extend it to many stocks, and predict raw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Four papers frame this one. Goyal and Welch showed that market predictors seemed to fail out of sample, and this paper overturns that result. Campbell and Thompson showed that forcing forecasts to be non-negative helps, and the complex model learns this long-only behavior by itself. Rapach, Strauss and Zhou showed that averaging forecasts works, which acts like shrinkage. Gu, Kelly and Xiu showed that machine learning predicts stock returns well, and this paper explains why. The theory builds on random features and on research about overfitting in large models. The result is also debated. Stefan Nagel, who edited the paper, later argued that much of the gain comes from momentum. That debate is useful, because it shows the result is important enough to be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Here is the full reference and the data sources. Thank you. I am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CEBE8"/>
        </a:solidFill>
      </p:bgPr>
    </p:bg>
    <p:spTree>
      <p:nvGrpSpPr>
        <p:cNvPr id="1" name=""/>
        <p:cNvGrpSpPr/>
        <p:nvPr/>
      </p:nvGrpSpPr>
      <p:grpSpPr>
        <a:xfrm>
          <a:off x="0" y="0"/>
          <a:ext cx="0" cy="0"/>
          <a:chOff x="0" y="0"/>
          <a:chExt cx="0" cy="0"/>
        </a:xfrm>
      </p:grpSpPr>
      <p:sp>
        <p:nvSpPr>
          <p:cNvPr id="2" name="Shape 0"/>
          <p:cNvSpPr/>
          <p:nvPr/>
        </p:nvSpPr>
        <p:spPr>
          <a:xfrm>
            <a:off x="5632704" y="-996696"/>
            <a:ext cx="4279392" cy="4279392"/>
          </a:xfrm>
          <a:prstGeom prst="ellipse">
            <a:avLst/>
          </a:prstGeom>
          <a:solidFill>
            <a:srgbClr val="FFFFFF">
              <a:alpha val="0"/>
            </a:srgbClr>
          </a:solidFill>
          <a:ln w="19050">
            <a:solidFill>
              <a:srgbClr val="5C8F8A">
                <a:alpha val="25000"/>
              </a:srgbClr>
            </a:solidFill>
            <a:prstDash val="solid"/>
          </a:ln>
        </p:spPr>
      </p:sp>
      <p:sp>
        <p:nvSpPr>
          <p:cNvPr id="3" name="Shape 1"/>
          <p:cNvSpPr/>
          <p:nvPr/>
        </p:nvSpPr>
        <p:spPr>
          <a:xfrm>
            <a:off x="6117336" y="-512064"/>
            <a:ext cx="3310128" cy="3310128"/>
          </a:xfrm>
          <a:prstGeom prst="ellipse">
            <a:avLst/>
          </a:prstGeom>
          <a:solidFill>
            <a:srgbClr val="FFFFFF">
              <a:alpha val="0"/>
            </a:srgbClr>
          </a:solidFill>
          <a:ln w="19050">
            <a:solidFill>
              <a:srgbClr val="5C8F8A">
                <a:alpha val="25000"/>
              </a:srgbClr>
            </a:solidFill>
            <a:prstDash val="solid"/>
          </a:ln>
        </p:spPr>
      </p:sp>
      <p:sp>
        <p:nvSpPr>
          <p:cNvPr id="4" name="Shape 2"/>
          <p:cNvSpPr/>
          <p:nvPr/>
        </p:nvSpPr>
        <p:spPr>
          <a:xfrm>
            <a:off x="6702552" y="73152"/>
            <a:ext cx="2139696" cy="2139696"/>
          </a:xfrm>
          <a:prstGeom prst="ellipse">
            <a:avLst/>
          </a:prstGeom>
          <a:solidFill>
            <a:srgbClr val="FFFFFF">
              <a:alpha val="0"/>
            </a:srgbClr>
          </a:solidFill>
          <a:ln w="19050">
            <a:solidFill>
              <a:srgbClr val="5C8F8A">
                <a:alpha val="25000"/>
              </a:srgbClr>
            </a:solidFill>
            <a:prstDash val="solid"/>
          </a:ln>
        </p:spPr>
      </p:sp>
      <p:sp>
        <p:nvSpPr>
          <p:cNvPr id="5" name="Shape 3"/>
          <p:cNvSpPr/>
          <p:nvPr/>
        </p:nvSpPr>
        <p:spPr>
          <a:xfrm>
            <a:off x="7187184" y="557784"/>
            <a:ext cx="1170432" cy="1170432"/>
          </a:xfrm>
          <a:prstGeom prst="ellipse">
            <a:avLst/>
          </a:prstGeom>
          <a:solidFill>
            <a:srgbClr val="5C8F8A">
              <a:alpha val="12000"/>
            </a:srgbClr>
          </a:solidFill>
          <a:ln w="12700">
            <a:solidFill>
              <a:srgbClr val="5C8F8A">
                <a:alpha val="0"/>
              </a:srgbClr>
            </a:solidFill>
            <a:prstDash val="solid"/>
          </a:ln>
        </p:spPr>
      </p:sp>
      <p:sp>
        <p:nvSpPr>
          <p:cNvPr id="6" name="Shape 4"/>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Shape 7"/>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10" name="Shape 8"/>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11" name="Shape 9"/>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12" name="Shape 10"/>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13" name="Text 11"/>
          <p:cNvSpPr txBox="1"/>
          <p:nvPr/>
        </p:nvSpPr>
        <p:spPr>
          <a:xfrm>
            <a:off x="548640" y="1170432"/>
            <a:ext cx="6400800" cy="274320"/>
          </a:xfrm>
          <a:prstGeom prst="rect">
            <a:avLst/>
          </a:prstGeom>
          <a:noFill/>
          <a:ln/>
        </p:spPr>
        <p:txBody>
          <a:bodyPr wrap="square" lIns="0" tIns="0" rIns="0" bIns="0" rtlCol="0" anchor="ctr"/>
          <a:lstStyle/>
          <a:p>
            <a:pPr indent="0" marL="0">
              <a:buNone/>
            </a:pPr>
            <a:r>
              <a:rPr lang="en-US" sz="1300" b="1" spc="200" kern="0" dirty="0">
                <a:solidFill>
                  <a:srgbClr val="4E827D"/>
                </a:solidFill>
                <a:latin typeface="Arial" pitchFamily="34" charset="0"/>
                <a:ea typeface="Arial" pitchFamily="34" charset="-122"/>
                <a:cs typeface="Arial" pitchFamily="34" charset="-120"/>
              </a:rPr>
              <a:t>DS 340W · RESEARCH PAPER PRESENTATION</a:t>
            </a:r>
            <a:endParaRPr lang="en-US" sz="1300" dirty="0"/>
          </a:p>
        </p:txBody>
      </p:sp>
      <p:sp>
        <p:nvSpPr>
          <p:cNvPr id="14" name="Text 12"/>
          <p:cNvSpPr txBox="1"/>
          <p:nvPr/>
        </p:nvSpPr>
        <p:spPr>
          <a:xfrm>
            <a:off x="548640" y="1517904"/>
            <a:ext cx="6583680" cy="1097280"/>
          </a:xfrm>
          <a:prstGeom prst="rect">
            <a:avLst/>
          </a:prstGeom>
          <a:noFill/>
          <a:ln/>
        </p:spPr>
        <p:txBody>
          <a:bodyPr wrap="square" lIns="0" tIns="0" rIns="0" bIns="0" rtlCol="0" anchor="t"/>
          <a:lstStyle/>
          <a:p>
            <a:pPr indent="0" marL="0">
              <a:buNone/>
            </a:pPr>
            <a:r>
              <a:rPr lang="en-US" sz="3800" b="1" dirty="0">
                <a:solidFill>
                  <a:srgbClr val="2F3836"/>
                </a:solidFill>
                <a:latin typeface="Arial" pitchFamily="34" charset="0"/>
                <a:ea typeface="Arial" pitchFamily="34" charset="-122"/>
                <a:cs typeface="Arial" pitchFamily="34" charset="-120"/>
              </a:rPr>
              <a:t>The Virtue of Complexity in Return Prediction</a:t>
            </a:r>
            <a:endParaRPr lang="en-US" sz="3800" dirty="0"/>
          </a:p>
        </p:txBody>
      </p:sp>
      <p:sp>
        <p:nvSpPr>
          <p:cNvPr id="15" name="Shape 13"/>
          <p:cNvSpPr/>
          <p:nvPr/>
        </p:nvSpPr>
        <p:spPr>
          <a:xfrm>
            <a:off x="548640" y="2724912"/>
            <a:ext cx="457200" cy="45720"/>
          </a:xfrm>
          <a:prstGeom prst="roundRect">
            <a:avLst>
              <a:gd name="adj" fmla="val 40000"/>
            </a:avLst>
          </a:prstGeom>
          <a:solidFill>
            <a:srgbClr val="C06A33"/>
          </a:solidFill>
          <a:ln w="12700">
            <a:solidFill>
              <a:srgbClr val="C06A33"/>
            </a:solidFill>
            <a:prstDash val="solid"/>
          </a:ln>
        </p:spPr>
      </p:sp>
      <p:sp>
        <p:nvSpPr>
          <p:cNvPr id="16" name="Text 14"/>
          <p:cNvSpPr txBox="1"/>
          <p:nvPr/>
        </p:nvSpPr>
        <p:spPr>
          <a:xfrm>
            <a:off x="548640" y="2907792"/>
            <a:ext cx="6858000" cy="566928"/>
          </a:xfrm>
          <a:prstGeom prst="rect">
            <a:avLst/>
          </a:prstGeom>
          <a:noFill/>
          <a:ln/>
        </p:spPr>
        <p:txBody>
          <a:bodyPr wrap="square" lIns="0" tIns="0" rIns="0" bIns="0" rtlCol="0" anchor="ctr"/>
          <a:lstStyle/>
          <a:p>
            <a:pPr indent="0" marL="0">
              <a:buNone/>
            </a:pPr>
            <a:r>
              <a:rPr lang="en-US" sz="1700" dirty="0">
                <a:solidFill>
                  <a:srgbClr val="4A5F5C"/>
                </a:solidFill>
                <a:latin typeface="Calibri" pitchFamily="34" charset="0"/>
                <a:ea typeface="Calibri" pitchFamily="34" charset="-122"/>
                <a:cs typeface="Calibri" pitchFamily="34" charset="-120"/>
              </a:rPr>
              <a:t>Bryan Kelly · Semyon Malamud · Kangying Zhou</a:t>
            </a:r>
            <a:endParaRPr lang="en-US" sz="1700" dirty="0"/>
          </a:p>
          <a:p>
            <a:pPr indent="0" marL="0">
              <a:buNone/>
            </a:pPr>
            <a:r>
              <a:rPr lang="en-US" sz="1500" dirty="0">
                <a:solidFill>
                  <a:srgbClr val="5F7A76"/>
                </a:solidFill>
                <a:latin typeface="Calibri" pitchFamily="34" charset="0"/>
                <a:ea typeface="Calibri" pitchFamily="34" charset="-122"/>
                <a:cs typeface="Calibri" pitchFamily="34" charset="-120"/>
              </a:rPr>
              <a:t>The Journal of Finance 79(1): 459-503 · 2024</a:t>
            </a:r>
            <a:endParaRPr lang="en-US" sz="1700" dirty="0"/>
          </a:p>
        </p:txBody>
      </p:sp>
      <p:sp>
        <p:nvSpPr>
          <p:cNvPr id="17" name="Text 15"/>
          <p:cNvSpPr txBox="1"/>
          <p:nvPr/>
        </p:nvSpPr>
        <p:spPr>
          <a:xfrm>
            <a:off x="548640" y="3639312"/>
            <a:ext cx="6400800" cy="320040"/>
          </a:xfrm>
          <a:prstGeom prst="rect">
            <a:avLst/>
          </a:prstGeom>
          <a:noFill/>
          <a:ln/>
        </p:spPr>
        <p:txBody>
          <a:bodyPr wrap="square" lIns="0" tIns="0" rIns="0" bIns="0" rtlCol="0" anchor="ctr"/>
          <a:lstStyle/>
          <a:p>
            <a:pPr indent="0" marL="0">
              <a:buNone/>
            </a:pPr>
            <a:r>
              <a:rPr lang="en-US" sz="1700" b="1" dirty="0">
                <a:solidFill>
                  <a:srgbClr val="3E6F6A"/>
                </a:solidFill>
                <a:latin typeface="Arial" pitchFamily="34" charset="0"/>
                <a:ea typeface="Arial" pitchFamily="34" charset="-122"/>
                <a:cs typeface="Arial" pitchFamily="34" charset="-120"/>
              </a:rPr>
              <a:t>Presented by Shreyansh Agarwal</a:t>
            </a:r>
            <a:endParaRPr lang="en-US" sz="1700" dirty="0"/>
          </a:p>
        </p:txBody>
      </p:sp>
      <p:sp>
        <p:nvSpPr>
          <p:cNvPr id="18" name="Text 16"/>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3" name="Shape 1"/>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4" name="Shape 2"/>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5" name="Shape 3"/>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Text 7"/>
          <p:cNvSpPr txBox="1"/>
          <p:nvPr/>
        </p:nvSpPr>
        <p:spPr>
          <a:xfrm>
            <a:off x="512064" y="329184"/>
            <a:ext cx="8138160" cy="566928"/>
          </a:xfrm>
          <a:prstGeom prst="rect">
            <a:avLst/>
          </a:prstGeom>
          <a:noFill/>
          <a:ln/>
        </p:spPr>
        <p:txBody>
          <a:bodyPr wrap="square" lIns="0" tIns="0" rIns="0" bIns="0" rtlCol="0" anchor="ctr"/>
          <a:lstStyle/>
          <a:p>
            <a:pPr indent="0" marL="0">
              <a:buNone/>
            </a:pPr>
            <a:r>
              <a:rPr lang="en-US" sz="3600" b="1" dirty="0">
                <a:solidFill>
                  <a:srgbClr val="2F3836"/>
                </a:solidFill>
                <a:latin typeface="Arial" pitchFamily="34" charset="0"/>
                <a:ea typeface="Arial" pitchFamily="34" charset="-122"/>
                <a:cs typeface="Arial" pitchFamily="34" charset="-120"/>
              </a:rPr>
              <a:t>Introduction</a:t>
            </a:r>
            <a:endParaRPr lang="en-US" sz="3600" dirty="0"/>
          </a:p>
        </p:txBody>
      </p:sp>
      <p:sp>
        <p:nvSpPr>
          <p:cNvPr id="10" name="Text 8"/>
          <p:cNvSpPr txBox="1"/>
          <p:nvPr/>
        </p:nvSpPr>
        <p:spPr>
          <a:xfrm>
            <a:off x="512064" y="1234440"/>
            <a:ext cx="4846320" cy="3291840"/>
          </a:xfrm>
          <a:prstGeom prst="rect">
            <a:avLst/>
          </a:prstGeom>
          <a:noFill/>
          <a:ln/>
        </p:spPr>
        <p:txBody>
          <a:bodyPr wrap="square" lIns="0" tIns="0" rIns="0" bIns="0" rtlCol="0" anchor="t"/>
          <a:lstStyle/>
          <a:p>
            <a:pPr marL="203200" indent="-203200">
              <a:spcAft>
                <a:spcPts val="1400"/>
              </a:spcAft>
              <a:buSzPct val="100000"/>
              <a:buChar char="•"/>
            </a:pPr>
            <a:r>
              <a:rPr lang="en-US" sz="1600" b="1" dirty="0">
                <a:solidFill>
                  <a:srgbClr val="14201E"/>
                </a:solidFill>
                <a:latin typeface="Calibri" pitchFamily="34" charset="0"/>
                <a:ea typeface="Calibri" pitchFamily="34" charset="-122"/>
                <a:cs typeface="Calibri" pitchFamily="34" charset="-120"/>
              </a:rPr>
              <a:t>Goal: </a:t>
            </a:r>
            <a:pPr indent="0" marL="0">
              <a:buNone/>
            </a:pPr>
            <a:r>
              <a:rPr lang="en-US" sz="1600" dirty="0">
                <a:solidFill>
                  <a:srgbClr val="14201E"/>
                </a:solidFill>
                <a:latin typeface="Calibri" pitchFamily="34" charset="0"/>
                <a:ea typeface="Calibri" pitchFamily="34" charset="-122"/>
                <a:cs typeface="Calibri" pitchFamily="34" charset="-120"/>
              </a:rPr>
              <a:t>how many parameters P a model should have for T data points.</a:t>
            </a:r>
            <a:endParaRPr lang="en-US" sz="1600" dirty="0"/>
          </a:p>
          <a:p>
            <a:pPr marL="203200" indent="-203200">
              <a:spcAft>
                <a:spcPts val="1400"/>
              </a:spcAft>
              <a:buSzPct val="100000"/>
              <a:buChar char="•"/>
            </a:pPr>
            <a:r>
              <a:rPr lang="en-US" sz="1600" b="1" dirty="0">
                <a:solidFill>
                  <a:srgbClr val="14201E"/>
                </a:solidFill>
                <a:latin typeface="Calibri" pitchFamily="34" charset="0"/>
                <a:ea typeface="Calibri" pitchFamily="34" charset="-122"/>
                <a:cs typeface="Calibri" pitchFamily="34" charset="-120"/>
              </a:rPr>
              <a:t>Conventional wisdom: </a:t>
            </a:r>
            <a:pPr indent="0" marL="0">
              <a:buNone/>
            </a:pPr>
            <a:r>
              <a:rPr lang="en-US" sz="1600" dirty="0">
                <a:solidFill>
                  <a:srgbClr val="14201E"/>
                </a:solidFill>
                <a:latin typeface="Calibri" pitchFamily="34" charset="0"/>
                <a:ea typeface="Calibri" pitchFamily="34" charset="-122"/>
                <a:cs typeface="Calibri" pitchFamily="34" charset="-120"/>
              </a:rPr>
              <a:t>keep models simple. Goyal &amp; Welch (2008): predictors fail out of sample.</a:t>
            </a:r>
            <a:endParaRPr lang="en-US" sz="1600" dirty="0"/>
          </a:p>
          <a:p>
            <a:pPr marL="203200" indent="-203200">
              <a:spcAft>
                <a:spcPts val="1400"/>
              </a:spcAft>
              <a:buSzPct val="100000"/>
              <a:buChar char="•"/>
            </a:pPr>
            <a:r>
              <a:rPr lang="en-US" sz="1600" b="1" dirty="0">
                <a:solidFill>
                  <a:srgbClr val="14201E"/>
                </a:solidFill>
                <a:latin typeface="Calibri" pitchFamily="34" charset="0"/>
                <a:ea typeface="Calibri" pitchFamily="34" charset="-122"/>
                <a:cs typeface="Calibri" pitchFamily="34" charset="-120"/>
              </a:rPr>
              <a:t>The gap: </a:t>
            </a:r>
            <a:pPr indent="0" marL="0">
              <a:buNone/>
            </a:pPr>
            <a:r>
              <a:rPr lang="en-US" sz="1600" dirty="0">
                <a:solidFill>
                  <a:srgbClr val="14201E"/>
                </a:solidFill>
                <a:latin typeface="Calibri" pitchFamily="34" charset="0"/>
                <a:ea typeface="Calibri" pitchFamily="34" charset="-122"/>
                <a:cs typeface="Calibri" pitchFamily="34" charset="-120"/>
              </a:rPr>
              <a:t>ML works in practice, but lacked a theory.</a:t>
            </a:r>
            <a:endParaRPr lang="en-US" sz="1600" dirty="0"/>
          </a:p>
          <a:p>
            <a:pPr marL="203200" indent="-203200">
              <a:spcAft>
                <a:spcPts val="1400"/>
              </a:spcAft>
              <a:buSzPct val="100000"/>
              <a:buChar char="•"/>
            </a:pPr>
            <a:r>
              <a:rPr lang="en-US" sz="1600" b="1" dirty="0">
                <a:solidFill>
                  <a:srgbClr val="14201E"/>
                </a:solidFill>
                <a:latin typeface="Calibri" pitchFamily="34" charset="0"/>
                <a:ea typeface="Calibri" pitchFamily="34" charset="-122"/>
                <a:cs typeface="Calibri" pitchFamily="34" charset="-120"/>
              </a:rPr>
              <a:t>Their claim: </a:t>
            </a:r>
            <a:pPr indent="0" marL="0">
              <a:buNone/>
            </a:pPr>
            <a:r>
              <a:rPr lang="en-US" sz="1600" dirty="0">
                <a:solidFill>
                  <a:srgbClr val="14201E"/>
                </a:solidFill>
                <a:latin typeface="Calibri" pitchFamily="34" charset="0"/>
                <a:ea typeface="Calibri" pitchFamily="34" charset="-122"/>
                <a:cs typeface="Calibri" pitchFamily="34" charset="-120"/>
              </a:rPr>
              <a:t>more parameters help, even beyond the data size, with shrinkage.</a:t>
            </a:r>
            <a:endParaRPr lang="en-US" sz="1600" dirty="0"/>
          </a:p>
        </p:txBody>
      </p:sp>
      <p:sp>
        <p:nvSpPr>
          <p:cNvPr id="11" name="Shape 9"/>
          <p:cNvSpPr/>
          <p:nvPr/>
        </p:nvSpPr>
        <p:spPr>
          <a:xfrm>
            <a:off x="5669280" y="1417320"/>
            <a:ext cx="2971800" cy="1920240"/>
          </a:xfrm>
          <a:prstGeom prst="roundRect">
            <a:avLst>
              <a:gd name="adj" fmla="val 4762"/>
            </a:avLst>
          </a:prstGeom>
          <a:solidFill>
            <a:srgbClr val="FFFFFF"/>
          </a:solidFill>
          <a:ln w="12700">
            <a:solidFill>
              <a:srgbClr val="D5E3E0"/>
            </a:solidFill>
            <a:prstDash val="solid"/>
          </a:ln>
        </p:spPr>
      </p:sp>
      <p:sp>
        <p:nvSpPr>
          <p:cNvPr id="12" name="Text 10"/>
          <p:cNvSpPr txBox="1"/>
          <p:nvPr/>
        </p:nvSpPr>
        <p:spPr>
          <a:xfrm>
            <a:off x="5897880" y="1645920"/>
            <a:ext cx="2560320" cy="237744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THE QUESTION IN ONE LINE</a:t>
            </a:r>
            <a:endParaRPr lang="en-US" sz="1100" dirty="0"/>
          </a:p>
          <a:p>
            <a:pPr indent="0" marL="0">
              <a:spcAft>
                <a:spcPts val="800"/>
              </a:spcAft>
              <a:buNone/>
            </a:pPr>
            <a:r>
              <a:rPr lang="en-US" sz="1900" b="1" dirty="0">
                <a:solidFill>
                  <a:srgbClr val="1D2A28"/>
                </a:solidFill>
                <a:latin typeface="Arial" pitchFamily="34" charset="0"/>
                <a:ea typeface="Arial" pitchFamily="34" charset="-122"/>
                <a:cs typeface="Arial" pitchFamily="34" charset="-120"/>
              </a:rPr>
              <a:t>Should a model have more parameters than data points?</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Textbook answer: no. This paper proves yes.</a:t>
            </a:r>
            <a:endParaRPr lang="en-US" sz="1100" dirty="0"/>
          </a:p>
        </p:txBody>
      </p:sp>
      <p:sp>
        <p:nvSpPr>
          <p:cNvPr id="13" name="Text 11"/>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3" name="Shape 1"/>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4" name="Shape 2"/>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5" name="Shape 3"/>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Text 7"/>
          <p:cNvSpPr txBox="1"/>
          <p:nvPr/>
        </p:nvSpPr>
        <p:spPr>
          <a:xfrm>
            <a:off x="512064" y="329184"/>
            <a:ext cx="8138160" cy="566928"/>
          </a:xfrm>
          <a:prstGeom prst="rect">
            <a:avLst/>
          </a:prstGeom>
          <a:noFill/>
          <a:ln/>
        </p:spPr>
        <p:txBody>
          <a:bodyPr wrap="square" lIns="0" tIns="0" rIns="0" bIns="0" rtlCol="0" anchor="ctr"/>
          <a:lstStyle/>
          <a:p>
            <a:pPr indent="0" marL="0">
              <a:buNone/>
            </a:pPr>
            <a:r>
              <a:rPr lang="en-US" sz="3600" b="1" dirty="0">
                <a:solidFill>
                  <a:srgbClr val="2F3836"/>
                </a:solidFill>
                <a:latin typeface="Arial" pitchFamily="34" charset="0"/>
                <a:ea typeface="Arial" pitchFamily="34" charset="-122"/>
                <a:cs typeface="Arial" pitchFamily="34" charset="-120"/>
              </a:rPr>
              <a:t>Research Methodology</a:t>
            </a:r>
            <a:endParaRPr lang="en-US" sz="3600" dirty="0"/>
          </a:p>
        </p:txBody>
      </p:sp>
      <p:sp>
        <p:nvSpPr>
          <p:cNvPr id="10" name="Text 8"/>
          <p:cNvSpPr txBox="1"/>
          <p:nvPr/>
        </p:nvSpPr>
        <p:spPr>
          <a:xfrm>
            <a:off x="512064" y="1188720"/>
            <a:ext cx="4480560" cy="3383280"/>
          </a:xfrm>
          <a:prstGeom prst="rect">
            <a:avLst/>
          </a:prstGeom>
          <a:noFill/>
          <a:ln/>
        </p:spPr>
        <p:txBody>
          <a:bodyPr wrap="square" lIns="0" tIns="0" rIns="0" bIns="0" rtlCol="0" anchor="t"/>
          <a:lstStyle/>
          <a:p>
            <a:pPr marL="203200" indent="-203200">
              <a:spcAft>
                <a:spcPts val="1200"/>
              </a:spcAft>
              <a:buSzPct val="100000"/>
              <a:buChar char="•"/>
            </a:pPr>
            <a:r>
              <a:rPr lang="en-US" sz="1500" b="1" dirty="0">
                <a:solidFill>
                  <a:srgbClr val="14201E"/>
                </a:solidFill>
                <a:latin typeface="Calibri" pitchFamily="34" charset="0"/>
                <a:ea typeface="Calibri" pitchFamily="34" charset="-122"/>
                <a:cs typeface="Calibri" pitchFamily="34" charset="-120"/>
              </a:rPr>
              <a:t>Target: </a:t>
            </a:r>
            <a:pPr indent="0" marL="0">
              <a:buNone/>
            </a:pPr>
            <a:r>
              <a:rPr lang="en-US" sz="1500" dirty="0">
                <a:solidFill>
                  <a:srgbClr val="14201E"/>
                </a:solidFill>
                <a:latin typeface="Calibri" pitchFamily="34" charset="0"/>
                <a:ea typeface="Calibri" pitchFamily="34" charset="-122"/>
                <a:cs typeface="Calibri" pitchFamily="34" charset="-120"/>
              </a:rPr>
              <a:t>monthly excess return of the </a:t>
            </a:r>
            <a:pPr indent="0" marL="0">
              <a:buNone/>
            </a:pPr>
            <a:r>
              <a:rPr lang="en-US" sz="1500" b="1" dirty="0">
                <a:solidFill>
                  <a:srgbClr val="14201E"/>
                </a:solidFill>
                <a:latin typeface="Calibri" pitchFamily="34" charset="0"/>
                <a:ea typeface="Calibri" pitchFamily="34" charset="-122"/>
                <a:cs typeface="Calibri" pitchFamily="34" charset="-120"/>
              </a:rPr>
              <a:t>CRSP value-weighted</a:t>
            </a:r>
            <a:pPr indent="0" marL="0">
              <a:buNone/>
            </a:pPr>
            <a:r>
              <a:rPr lang="en-US" sz="1500" dirty="0">
                <a:solidFill>
                  <a:srgbClr val="14201E"/>
                </a:solidFill>
                <a:latin typeface="Calibri" pitchFamily="34" charset="0"/>
                <a:ea typeface="Calibri" pitchFamily="34" charset="-122"/>
                <a:cs typeface="Calibri" pitchFamily="34" charset="-120"/>
              </a:rPr>
              <a:t> US stock market, 1926-2020</a:t>
            </a:r>
            <a:endParaRPr lang="en-US" sz="1500" dirty="0"/>
          </a:p>
          <a:p>
            <a:pPr marL="203200" indent="-203200">
              <a:spcAft>
                <a:spcPts val="1200"/>
              </a:spcAft>
              <a:buSzPct val="100000"/>
              <a:buChar char="•"/>
            </a:pPr>
            <a:r>
              <a:rPr lang="en-US" sz="1500" b="1" dirty="0">
                <a:solidFill>
                  <a:srgbClr val="14201E"/>
                </a:solidFill>
                <a:latin typeface="Calibri" pitchFamily="34" charset="0"/>
                <a:ea typeface="Calibri" pitchFamily="34" charset="-122"/>
                <a:cs typeface="Calibri" pitchFamily="34" charset="-120"/>
              </a:rPr>
              <a:t>Inputs: </a:t>
            </a:r>
            <a:pPr indent="0" marL="0">
              <a:buNone/>
            </a:pPr>
            <a:r>
              <a:rPr lang="en-US" sz="1500" dirty="0">
                <a:solidFill>
                  <a:srgbClr val="14201E"/>
                </a:solidFill>
                <a:latin typeface="Calibri" pitchFamily="34" charset="0"/>
                <a:ea typeface="Calibri" pitchFamily="34" charset="-122"/>
                <a:cs typeface="Calibri" pitchFamily="34" charset="-120"/>
              </a:rPr>
              <a:t>15 standard predictors from </a:t>
            </a:r>
            <a:pPr indent="0" marL="0">
              <a:buNone/>
            </a:pPr>
            <a:r>
              <a:rPr lang="en-US" sz="1500" b="1" dirty="0">
                <a:solidFill>
                  <a:srgbClr val="14201E"/>
                </a:solidFill>
                <a:latin typeface="Calibri" pitchFamily="34" charset="0"/>
                <a:ea typeface="Calibri" pitchFamily="34" charset="-122"/>
                <a:cs typeface="Calibri" pitchFamily="34" charset="-120"/>
              </a:rPr>
              <a:t>Goyal &amp; Welch (2008)</a:t>
            </a:r>
            <a:pPr indent="0" marL="0">
              <a:buNone/>
            </a:pPr>
            <a:r>
              <a:rPr lang="en-US" sz="1500" dirty="0">
                <a:solidFill>
                  <a:srgbClr val="14201E"/>
                </a:solidFill>
                <a:latin typeface="Calibri" pitchFamily="34" charset="0"/>
                <a:ea typeface="Calibri" pitchFamily="34" charset="-122"/>
                <a:cs typeface="Calibri" pitchFamily="34" charset="-120"/>
              </a:rPr>
              <a:t>, e.g. dividend yield, T-bill rate</a:t>
            </a:r>
            <a:endParaRPr lang="en-US" sz="1500" dirty="0"/>
          </a:p>
          <a:p>
            <a:pPr marL="203200" indent="-203200">
              <a:spcAft>
                <a:spcPts val="1200"/>
              </a:spcAft>
              <a:buSzPct val="100000"/>
              <a:buChar char="•"/>
            </a:pPr>
            <a:r>
              <a:rPr lang="en-US" sz="1500" b="1" dirty="0">
                <a:solidFill>
                  <a:srgbClr val="14201E"/>
                </a:solidFill>
                <a:latin typeface="Calibri" pitchFamily="34" charset="0"/>
                <a:ea typeface="Calibri" pitchFamily="34" charset="-122"/>
                <a:cs typeface="Calibri" pitchFamily="34" charset="-120"/>
              </a:rPr>
              <a:t>No lookahead: </a:t>
            </a:r>
            <a:pPr indent="0" marL="0">
              <a:buNone/>
            </a:pPr>
            <a:r>
              <a:rPr lang="en-US" sz="1500" dirty="0">
                <a:solidFill>
                  <a:srgbClr val="14201E"/>
                </a:solidFill>
                <a:latin typeface="Calibri" pitchFamily="34" charset="0"/>
                <a:ea typeface="Calibri" pitchFamily="34" charset="-122"/>
                <a:cs typeface="Calibri" pitchFamily="34" charset="-120"/>
              </a:rPr>
              <a:t>standardized with past data only</a:t>
            </a:r>
            <a:endParaRPr lang="en-US" sz="1500" dirty="0"/>
          </a:p>
          <a:p>
            <a:pPr marL="203200" indent="-203200">
              <a:spcAft>
                <a:spcPts val="1200"/>
              </a:spcAft>
              <a:buSzPct val="100000"/>
              <a:buChar char="•"/>
            </a:pPr>
            <a:r>
              <a:rPr lang="en-US" sz="1500" b="1" dirty="0">
                <a:solidFill>
                  <a:srgbClr val="14201E"/>
                </a:solidFill>
                <a:latin typeface="Calibri" pitchFamily="34" charset="0"/>
                <a:ea typeface="Calibri" pitchFamily="34" charset="-122"/>
                <a:cs typeface="Calibri" pitchFamily="34" charset="-120"/>
              </a:rPr>
              <a:t>Two parts: </a:t>
            </a:r>
            <a:pPr indent="0" marL="0">
              <a:buNone/>
            </a:pPr>
            <a:r>
              <a:rPr lang="en-US" sz="1500" dirty="0">
                <a:solidFill>
                  <a:srgbClr val="14201E"/>
                </a:solidFill>
                <a:latin typeface="Calibri" pitchFamily="34" charset="0"/>
                <a:ea typeface="Calibri" pitchFamily="34" charset="-122"/>
                <a:cs typeface="Calibri" pitchFamily="34" charset="-120"/>
              </a:rPr>
              <a:t>a mathematical proof and a matching empirical test</a:t>
            </a:r>
            <a:endParaRPr lang="en-US" sz="1500" dirty="0"/>
          </a:p>
        </p:txBody>
      </p:sp>
      <p:sp>
        <p:nvSpPr>
          <p:cNvPr id="11" name="Shape 9"/>
          <p:cNvSpPr/>
          <p:nvPr/>
        </p:nvSpPr>
        <p:spPr>
          <a:xfrm>
            <a:off x="5257800" y="1188720"/>
            <a:ext cx="3383280" cy="3310128"/>
          </a:xfrm>
          <a:prstGeom prst="roundRect">
            <a:avLst>
              <a:gd name="adj" fmla="val 2762"/>
            </a:avLst>
          </a:prstGeom>
          <a:solidFill>
            <a:srgbClr val="FFFFFF"/>
          </a:solidFill>
          <a:ln w="12700">
            <a:solidFill>
              <a:srgbClr val="D5E3E0"/>
            </a:solidFill>
            <a:prstDash val="solid"/>
          </a:ln>
        </p:spPr>
      </p:sp>
      <p:sp>
        <p:nvSpPr>
          <p:cNvPr id="12" name="Text 10"/>
          <p:cNvSpPr txBox="1"/>
          <p:nvPr/>
        </p:nvSpPr>
        <p:spPr>
          <a:xfrm>
            <a:off x="5486400" y="1325880"/>
            <a:ext cx="3017520" cy="228600"/>
          </a:xfrm>
          <a:prstGeom prst="rect">
            <a:avLst/>
          </a:prstGeom>
          <a:noFill/>
          <a:ln/>
        </p:spPr>
        <p:txBody>
          <a:bodyPr wrap="square" lIns="0" tIns="0" rIns="0" bIns="0" rtlCol="0" anchor="ctr"/>
          <a:lstStyle/>
          <a:p>
            <a:pPr indent="0" marL="0">
              <a:buNone/>
            </a:pPr>
            <a:r>
              <a:rPr lang="en-US" sz="1100" b="1" spc="200" kern="0" dirty="0">
                <a:solidFill>
                  <a:srgbClr val="8A5A34"/>
                </a:solidFill>
                <a:latin typeface="Arial" pitchFamily="34" charset="0"/>
                <a:ea typeface="Arial" pitchFamily="34" charset="-122"/>
                <a:cs typeface="Arial" pitchFamily="34" charset="-120"/>
              </a:rPr>
              <a:t>THE EMPIRICAL PIPELINE</a:t>
            </a:r>
            <a:endParaRPr lang="en-US" sz="1100" dirty="0"/>
          </a:p>
        </p:txBody>
      </p:sp>
      <p:sp>
        <p:nvSpPr>
          <p:cNvPr id="13" name="Shape 11"/>
          <p:cNvSpPr/>
          <p:nvPr/>
        </p:nvSpPr>
        <p:spPr>
          <a:xfrm>
            <a:off x="5486400" y="1700784"/>
            <a:ext cx="329184" cy="329184"/>
          </a:xfrm>
          <a:prstGeom prst="ellipse">
            <a:avLst/>
          </a:prstGeom>
          <a:solidFill>
            <a:srgbClr val="C06A33"/>
          </a:solidFill>
          <a:ln w="12700">
            <a:solidFill>
              <a:srgbClr val="FFFFFF"/>
            </a:solidFill>
            <a:prstDash val="solid"/>
          </a:ln>
        </p:spPr>
      </p:sp>
      <p:sp>
        <p:nvSpPr>
          <p:cNvPr id="14" name="Text 12"/>
          <p:cNvSpPr txBox="1"/>
          <p:nvPr/>
        </p:nvSpPr>
        <p:spPr>
          <a:xfrm>
            <a:off x="5486400" y="170078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5" name="Text 13"/>
          <p:cNvSpPr txBox="1"/>
          <p:nvPr/>
        </p:nvSpPr>
        <p:spPr>
          <a:xfrm>
            <a:off x="5943600" y="1664208"/>
            <a:ext cx="2606040" cy="457200"/>
          </a:xfrm>
          <a:prstGeom prst="rect">
            <a:avLst/>
          </a:prstGeom>
          <a:noFill/>
          <a:ln/>
        </p:spPr>
        <p:txBody>
          <a:bodyPr wrap="square" lIns="0" tIns="0" rIns="0" bIns="0" rtlCol="0" anchor="t"/>
          <a:lstStyle/>
          <a:p>
            <a:pPr indent="0" marL="0">
              <a:buNone/>
            </a:pPr>
            <a:r>
              <a:rPr lang="en-US" sz="1300" b="1" dirty="0">
                <a:solidFill>
                  <a:srgbClr val="1D2A28"/>
                </a:solidFill>
                <a:latin typeface="Arial" pitchFamily="34" charset="0"/>
                <a:ea typeface="Arial" pitchFamily="34" charset="-122"/>
                <a:cs typeface="Arial" pitchFamily="34" charset="-120"/>
              </a:rPr>
              <a:t>Random Fourier features</a:t>
            </a:r>
            <a:endParaRPr lang="en-US" sz="1300" dirty="0"/>
          </a:p>
          <a:p>
            <a:pPr indent="0" marL="0">
              <a:buNone/>
            </a:pPr>
            <a:r>
              <a:rPr lang="en-US" sz="1150" dirty="0">
                <a:solidFill>
                  <a:srgbClr val="4A5350"/>
                </a:solidFill>
                <a:latin typeface="Calibri" pitchFamily="34" charset="0"/>
                <a:ea typeface="Calibri" pitchFamily="34" charset="-122"/>
                <a:cs typeface="Calibri" pitchFamily="34" charset="-120"/>
              </a:rPr>
              <a:t>P = 2 to 12,000</a:t>
            </a:r>
            <a:endParaRPr lang="en-US" sz="1300" dirty="0"/>
          </a:p>
        </p:txBody>
      </p:sp>
      <p:sp>
        <p:nvSpPr>
          <p:cNvPr id="16" name="Shape 14"/>
          <p:cNvSpPr/>
          <p:nvPr/>
        </p:nvSpPr>
        <p:spPr>
          <a:xfrm>
            <a:off x="5486400" y="2249424"/>
            <a:ext cx="329184" cy="329184"/>
          </a:xfrm>
          <a:prstGeom prst="ellipse">
            <a:avLst/>
          </a:prstGeom>
          <a:solidFill>
            <a:srgbClr val="2F5B57"/>
          </a:solidFill>
          <a:ln w="12700">
            <a:solidFill>
              <a:srgbClr val="FFFFFF"/>
            </a:solidFill>
            <a:prstDash val="solid"/>
          </a:ln>
        </p:spPr>
      </p:sp>
      <p:sp>
        <p:nvSpPr>
          <p:cNvPr id="17" name="Text 15"/>
          <p:cNvSpPr txBox="1"/>
          <p:nvPr/>
        </p:nvSpPr>
        <p:spPr>
          <a:xfrm>
            <a:off x="5486400" y="224942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8" name="Text 16"/>
          <p:cNvSpPr txBox="1"/>
          <p:nvPr/>
        </p:nvSpPr>
        <p:spPr>
          <a:xfrm>
            <a:off x="5943600" y="2212848"/>
            <a:ext cx="2606040" cy="457200"/>
          </a:xfrm>
          <a:prstGeom prst="rect">
            <a:avLst/>
          </a:prstGeom>
          <a:noFill/>
          <a:ln/>
        </p:spPr>
        <p:txBody>
          <a:bodyPr wrap="square" lIns="0" tIns="0" rIns="0" bIns="0" rtlCol="0" anchor="t"/>
          <a:lstStyle/>
          <a:p>
            <a:pPr indent="0" marL="0">
              <a:buNone/>
            </a:pPr>
            <a:r>
              <a:rPr lang="en-US" sz="1300" b="1" dirty="0">
                <a:solidFill>
                  <a:srgbClr val="1D2A28"/>
                </a:solidFill>
                <a:latin typeface="Arial" pitchFamily="34" charset="0"/>
                <a:ea typeface="Arial" pitchFamily="34" charset="-122"/>
                <a:cs typeface="Arial" pitchFamily="34" charset="-120"/>
              </a:rPr>
              <a:t>Ridge regression</a:t>
            </a:r>
            <a:endParaRPr lang="en-US" sz="1300" dirty="0"/>
          </a:p>
          <a:p>
            <a:pPr indent="0" marL="0">
              <a:buNone/>
            </a:pPr>
            <a:r>
              <a:rPr lang="en-US" sz="1150" dirty="0">
                <a:solidFill>
                  <a:srgbClr val="4A5350"/>
                </a:solidFill>
                <a:latin typeface="Calibri" pitchFamily="34" charset="0"/>
                <a:ea typeface="Calibri" pitchFamily="34" charset="-122"/>
                <a:cs typeface="Calibri" pitchFamily="34" charset="-120"/>
              </a:rPr>
              <a:t>shrinkage z = 10⁻³ to 10³</a:t>
            </a:r>
            <a:endParaRPr lang="en-US" sz="1300" dirty="0"/>
          </a:p>
        </p:txBody>
      </p:sp>
      <p:sp>
        <p:nvSpPr>
          <p:cNvPr id="19" name="Shape 17"/>
          <p:cNvSpPr/>
          <p:nvPr/>
        </p:nvSpPr>
        <p:spPr>
          <a:xfrm>
            <a:off x="5486400" y="2798064"/>
            <a:ext cx="329184" cy="329184"/>
          </a:xfrm>
          <a:prstGeom prst="ellipse">
            <a:avLst/>
          </a:prstGeom>
          <a:solidFill>
            <a:srgbClr val="2F5B57"/>
          </a:solidFill>
          <a:ln w="12700">
            <a:solidFill>
              <a:srgbClr val="FFFFFF"/>
            </a:solidFill>
            <a:prstDash val="solid"/>
          </a:ln>
        </p:spPr>
      </p:sp>
      <p:sp>
        <p:nvSpPr>
          <p:cNvPr id="20" name="Text 18"/>
          <p:cNvSpPr txBox="1"/>
          <p:nvPr/>
        </p:nvSpPr>
        <p:spPr>
          <a:xfrm>
            <a:off x="5486400" y="2798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1" name="Text 19"/>
          <p:cNvSpPr txBox="1"/>
          <p:nvPr/>
        </p:nvSpPr>
        <p:spPr>
          <a:xfrm>
            <a:off x="5943600" y="2761488"/>
            <a:ext cx="2606040" cy="457200"/>
          </a:xfrm>
          <a:prstGeom prst="rect">
            <a:avLst/>
          </a:prstGeom>
          <a:noFill/>
          <a:ln/>
        </p:spPr>
        <p:txBody>
          <a:bodyPr wrap="square" lIns="0" tIns="0" rIns="0" bIns="0" rtlCol="0" anchor="t"/>
          <a:lstStyle/>
          <a:p>
            <a:pPr indent="0" marL="0">
              <a:buNone/>
            </a:pPr>
            <a:r>
              <a:rPr lang="en-US" sz="1300" b="1" dirty="0">
                <a:solidFill>
                  <a:srgbClr val="1D2A28"/>
                </a:solidFill>
                <a:latin typeface="Arial" pitchFamily="34" charset="0"/>
                <a:ea typeface="Arial" pitchFamily="34" charset="-122"/>
                <a:cs typeface="Arial" pitchFamily="34" charset="-120"/>
              </a:rPr>
              <a:t>Rolling training window</a:t>
            </a:r>
            <a:endParaRPr lang="en-US" sz="1300" dirty="0"/>
          </a:p>
          <a:p>
            <a:pPr indent="0" marL="0">
              <a:buNone/>
            </a:pPr>
            <a:r>
              <a:rPr lang="en-US" sz="1150" dirty="0">
                <a:solidFill>
                  <a:srgbClr val="4A5350"/>
                </a:solidFill>
                <a:latin typeface="Calibri" pitchFamily="34" charset="0"/>
                <a:ea typeface="Calibri" pitchFamily="34" charset="-122"/>
                <a:cs typeface="Calibri" pitchFamily="34" charset="-120"/>
              </a:rPr>
              <a:t>T = 12, 60 or 120 months</a:t>
            </a:r>
            <a:endParaRPr lang="en-US" sz="1300" dirty="0"/>
          </a:p>
        </p:txBody>
      </p:sp>
      <p:sp>
        <p:nvSpPr>
          <p:cNvPr id="22" name="Shape 20"/>
          <p:cNvSpPr/>
          <p:nvPr/>
        </p:nvSpPr>
        <p:spPr>
          <a:xfrm>
            <a:off x="5486400" y="3346704"/>
            <a:ext cx="329184" cy="329184"/>
          </a:xfrm>
          <a:prstGeom prst="ellipse">
            <a:avLst/>
          </a:prstGeom>
          <a:solidFill>
            <a:srgbClr val="2F5B57"/>
          </a:solidFill>
          <a:ln w="12700">
            <a:solidFill>
              <a:srgbClr val="FFFFFF"/>
            </a:solidFill>
            <a:prstDash val="solid"/>
          </a:ln>
        </p:spPr>
      </p:sp>
      <p:sp>
        <p:nvSpPr>
          <p:cNvPr id="23" name="Text 21"/>
          <p:cNvSpPr txBox="1"/>
          <p:nvPr/>
        </p:nvSpPr>
        <p:spPr>
          <a:xfrm>
            <a:off x="5486400" y="334670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4" name="Text 22"/>
          <p:cNvSpPr txBox="1"/>
          <p:nvPr/>
        </p:nvSpPr>
        <p:spPr>
          <a:xfrm>
            <a:off x="5943600" y="3310128"/>
            <a:ext cx="2606040" cy="457200"/>
          </a:xfrm>
          <a:prstGeom prst="rect">
            <a:avLst/>
          </a:prstGeom>
          <a:noFill/>
          <a:ln/>
        </p:spPr>
        <p:txBody>
          <a:bodyPr wrap="square" lIns="0" tIns="0" rIns="0" bIns="0" rtlCol="0" anchor="t"/>
          <a:lstStyle/>
          <a:p>
            <a:pPr indent="0" marL="0">
              <a:buNone/>
            </a:pPr>
            <a:r>
              <a:rPr lang="en-US" sz="1300" b="1" dirty="0">
                <a:solidFill>
                  <a:srgbClr val="1D2A28"/>
                </a:solidFill>
                <a:latin typeface="Arial" pitchFamily="34" charset="0"/>
                <a:ea typeface="Arial" pitchFamily="34" charset="-122"/>
                <a:cs typeface="Arial" pitchFamily="34" charset="-120"/>
              </a:rPr>
              <a:t>Market-timing strategy</a:t>
            </a:r>
            <a:endParaRPr lang="en-US" sz="1300" dirty="0"/>
          </a:p>
          <a:p>
            <a:pPr indent="0" marL="0">
              <a:buNone/>
            </a:pPr>
            <a:r>
              <a:rPr lang="en-US" sz="1150" dirty="0">
                <a:solidFill>
                  <a:srgbClr val="4A5350"/>
                </a:solidFill>
                <a:latin typeface="Calibri" pitchFamily="34" charset="0"/>
                <a:ea typeface="Calibri" pitchFamily="34" charset="-122"/>
                <a:cs typeface="Calibri" pitchFamily="34" charset="-120"/>
              </a:rPr>
              <a:t>position = forecast</a:t>
            </a:r>
            <a:endParaRPr lang="en-US" sz="1300" dirty="0"/>
          </a:p>
        </p:txBody>
      </p:sp>
      <p:sp>
        <p:nvSpPr>
          <p:cNvPr id="25" name="Shape 23"/>
          <p:cNvSpPr/>
          <p:nvPr/>
        </p:nvSpPr>
        <p:spPr>
          <a:xfrm>
            <a:off x="5486400" y="3895344"/>
            <a:ext cx="329184" cy="329184"/>
          </a:xfrm>
          <a:prstGeom prst="ellipse">
            <a:avLst/>
          </a:prstGeom>
          <a:solidFill>
            <a:srgbClr val="2F5B57"/>
          </a:solidFill>
          <a:ln w="12700">
            <a:solidFill>
              <a:srgbClr val="FFFFFF"/>
            </a:solidFill>
            <a:prstDash val="solid"/>
          </a:ln>
        </p:spPr>
      </p:sp>
      <p:sp>
        <p:nvSpPr>
          <p:cNvPr id="26" name="Text 24"/>
          <p:cNvSpPr txBox="1"/>
          <p:nvPr/>
        </p:nvSpPr>
        <p:spPr>
          <a:xfrm>
            <a:off x="5486400" y="389534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7" name="Text 25"/>
          <p:cNvSpPr txBox="1"/>
          <p:nvPr/>
        </p:nvSpPr>
        <p:spPr>
          <a:xfrm>
            <a:off x="5943600" y="3858768"/>
            <a:ext cx="2606040" cy="457200"/>
          </a:xfrm>
          <a:prstGeom prst="rect">
            <a:avLst/>
          </a:prstGeom>
          <a:noFill/>
          <a:ln/>
        </p:spPr>
        <p:txBody>
          <a:bodyPr wrap="square" lIns="0" tIns="0" rIns="0" bIns="0" rtlCol="0" anchor="t"/>
          <a:lstStyle/>
          <a:p>
            <a:pPr indent="0" marL="0">
              <a:buNone/>
            </a:pPr>
            <a:r>
              <a:rPr lang="en-US" sz="1300" b="1" dirty="0">
                <a:solidFill>
                  <a:srgbClr val="1D2A28"/>
                </a:solidFill>
                <a:latin typeface="Arial" pitchFamily="34" charset="0"/>
                <a:ea typeface="Arial" pitchFamily="34" charset="-122"/>
                <a:cs typeface="Arial" pitchFamily="34" charset="-120"/>
              </a:rPr>
              <a:t>Repeat 1,000 times</a:t>
            </a:r>
            <a:endParaRPr lang="en-US" sz="1300" dirty="0"/>
          </a:p>
          <a:p>
            <a:pPr indent="0" marL="0">
              <a:buNone/>
            </a:pPr>
            <a:r>
              <a:rPr lang="en-US" sz="1150" dirty="0">
                <a:solidFill>
                  <a:srgbClr val="4A5350"/>
                </a:solidFill>
                <a:latin typeface="Calibri" pitchFamily="34" charset="0"/>
                <a:ea typeface="Calibri" pitchFamily="34" charset="-122"/>
                <a:cs typeface="Calibri" pitchFamily="34" charset="-120"/>
              </a:rPr>
              <a:t>with new random features</a:t>
            </a:r>
            <a:endParaRPr lang="en-US" sz="1300" dirty="0"/>
          </a:p>
        </p:txBody>
      </p:sp>
      <p:sp>
        <p:nvSpPr>
          <p:cNvPr id="28" name="Text 26"/>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3" name="Shape 1"/>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4" name="Shape 2"/>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5" name="Shape 3"/>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Text 7"/>
          <p:cNvSpPr txBox="1"/>
          <p:nvPr/>
        </p:nvSpPr>
        <p:spPr>
          <a:xfrm>
            <a:off x="512064" y="329184"/>
            <a:ext cx="8138160" cy="566928"/>
          </a:xfrm>
          <a:prstGeom prst="rect">
            <a:avLst/>
          </a:prstGeom>
          <a:noFill/>
          <a:ln/>
        </p:spPr>
        <p:txBody>
          <a:bodyPr wrap="square" lIns="0" tIns="0" rIns="0" bIns="0" rtlCol="0" anchor="ctr"/>
          <a:lstStyle/>
          <a:p>
            <a:pPr indent="0" marL="0">
              <a:buNone/>
            </a:pPr>
            <a:r>
              <a:rPr lang="en-US" sz="3600" b="1" dirty="0">
                <a:solidFill>
                  <a:srgbClr val="2F3836"/>
                </a:solidFill>
                <a:latin typeface="Arial" pitchFamily="34" charset="0"/>
                <a:ea typeface="Arial" pitchFamily="34" charset="-122"/>
                <a:cs typeface="Arial" pitchFamily="34" charset="-120"/>
              </a:rPr>
              <a:t>Model Building / Analysis</a:t>
            </a:r>
            <a:endParaRPr lang="en-US" sz="3600" dirty="0"/>
          </a:p>
        </p:txBody>
      </p:sp>
      <p:sp>
        <p:nvSpPr>
          <p:cNvPr id="10" name="Text 8"/>
          <p:cNvSpPr txBox="1"/>
          <p:nvPr/>
        </p:nvSpPr>
        <p:spPr>
          <a:xfrm>
            <a:off x="512064" y="896112"/>
            <a:ext cx="8138160" cy="329184"/>
          </a:xfrm>
          <a:prstGeom prst="rect">
            <a:avLst/>
          </a:prstGeom>
          <a:noFill/>
          <a:ln/>
        </p:spPr>
        <p:txBody>
          <a:bodyPr wrap="square" lIns="0" tIns="0" rIns="0" bIns="0" rtlCol="0" anchor="ctr"/>
          <a:lstStyle/>
          <a:p>
            <a:pPr indent="0" marL="0">
              <a:buNone/>
            </a:pPr>
            <a:r>
              <a:rPr lang="en-US" sz="1600" dirty="0">
                <a:solidFill>
                  <a:srgbClr val="4A5F5C"/>
                </a:solidFill>
                <a:latin typeface="Calibri" pitchFamily="34" charset="0"/>
                <a:ea typeface="Calibri" pitchFamily="34" charset="-122"/>
                <a:cs typeface="Calibri" pitchFamily="34" charset="-120"/>
              </a:rPr>
              <a:t>Our CPU replication of the core experiment</a:t>
            </a:r>
            <a:endParaRPr lang="en-US" sz="1600" dirty="0"/>
          </a:p>
        </p:txBody>
      </p:sp>
      <p:sp>
        <p:nvSpPr>
          <p:cNvPr id="11" name="Shape 9"/>
          <p:cNvSpPr/>
          <p:nvPr/>
        </p:nvSpPr>
        <p:spPr>
          <a:xfrm>
            <a:off x="512064" y="1371600"/>
            <a:ext cx="3383280" cy="969264"/>
          </a:xfrm>
          <a:prstGeom prst="roundRect">
            <a:avLst>
              <a:gd name="adj" fmla="val 9434"/>
            </a:avLst>
          </a:prstGeom>
          <a:solidFill>
            <a:srgbClr val="FFFFFF"/>
          </a:solidFill>
          <a:ln w="12700">
            <a:solidFill>
              <a:srgbClr val="D5E3E0"/>
            </a:solidFill>
            <a:prstDash val="solid"/>
          </a:ln>
        </p:spPr>
      </p:sp>
      <p:sp>
        <p:nvSpPr>
          <p:cNvPr id="12" name="Text 10"/>
          <p:cNvSpPr txBox="1"/>
          <p:nvPr/>
        </p:nvSpPr>
        <p:spPr>
          <a:xfrm>
            <a:off x="694944" y="1499616"/>
            <a:ext cx="3108960" cy="77724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RANDOM FOURIER FEATURES</a:t>
            </a:r>
            <a:endParaRPr lang="en-US" sz="1100" dirty="0"/>
          </a:p>
          <a:p>
            <a:pPr indent="0" marL="0">
              <a:spcAft>
                <a:spcPts val="800"/>
              </a:spcAft>
              <a:buNone/>
            </a:pPr>
            <a:r>
              <a:rPr lang="en-US" sz="1350" b="1" dirty="0">
                <a:solidFill>
                  <a:srgbClr val="1D2A28"/>
                </a:solidFill>
                <a:latin typeface="Arial" pitchFamily="34" charset="0"/>
                <a:ea typeface="Arial" pitchFamily="34" charset="-122"/>
                <a:cs typeface="Arial" pitchFamily="34" charset="-120"/>
              </a:rPr>
              <a:t>S = [sin(γω′G), cos(γω′G)]</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A wide neural net with random weights.</a:t>
            </a:r>
            <a:endParaRPr lang="en-US" sz="1100" dirty="0"/>
          </a:p>
        </p:txBody>
      </p:sp>
      <p:sp>
        <p:nvSpPr>
          <p:cNvPr id="13" name="Shape 11"/>
          <p:cNvSpPr/>
          <p:nvPr/>
        </p:nvSpPr>
        <p:spPr>
          <a:xfrm>
            <a:off x="512064" y="2432304"/>
            <a:ext cx="3383280" cy="969264"/>
          </a:xfrm>
          <a:prstGeom prst="roundRect">
            <a:avLst>
              <a:gd name="adj" fmla="val 9434"/>
            </a:avLst>
          </a:prstGeom>
          <a:solidFill>
            <a:srgbClr val="FFFFFF"/>
          </a:solidFill>
          <a:ln w="12700">
            <a:solidFill>
              <a:srgbClr val="D5E3E0"/>
            </a:solidFill>
            <a:prstDash val="solid"/>
          </a:ln>
        </p:spPr>
      </p:sp>
      <p:sp>
        <p:nvSpPr>
          <p:cNvPr id="14" name="Text 12"/>
          <p:cNvSpPr txBox="1"/>
          <p:nvPr/>
        </p:nvSpPr>
        <p:spPr>
          <a:xfrm>
            <a:off x="694944" y="2560320"/>
            <a:ext cx="3108960" cy="77724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RIDGE SHRINKAGE  z</a:t>
            </a:r>
            <a:endParaRPr lang="en-US" sz="1100" dirty="0"/>
          </a:p>
          <a:p>
            <a:pPr indent="0" marL="0">
              <a:spcAft>
                <a:spcPts val="800"/>
              </a:spcAft>
              <a:buNone/>
            </a:pPr>
            <a:r>
              <a:rPr lang="en-US" sz="1350" b="1" dirty="0">
                <a:solidFill>
                  <a:srgbClr val="1D2A28"/>
                </a:solidFill>
                <a:latin typeface="Arial" pitchFamily="34" charset="0"/>
                <a:ea typeface="Arial" pitchFamily="34" charset="-122"/>
                <a:cs typeface="Arial" pitchFamily="34" charset="-120"/>
              </a:rPr>
              <a:t>Pulls coefficients toward zero</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Tames variance when P ≥ T.</a:t>
            </a:r>
            <a:endParaRPr lang="en-US" sz="1100" dirty="0"/>
          </a:p>
        </p:txBody>
      </p:sp>
      <p:sp>
        <p:nvSpPr>
          <p:cNvPr id="15" name="Shape 13"/>
          <p:cNvSpPr/>
          <p:nvPr/>
        </p:nvSpPr>
        <p:spPr>
          <a:xfrm>
            <a:off x="512064" y="3493008"/>
            <a:ext cx="3383280" cy="969264"/>
          </a:xfrm>
          <a:prstGeom prst="roundRect">
            <a:avLst>
              <a:gd name="adj" fmla="val 9434"/>
            </a:avLst>
          </a:prstGeom>
          <a:solidFill>
            <a:srgbClr val="FFFFFF"/>
          </a:solidFill>
          <a:ln w="12700">
            <a:solidFill>
              <a:srgbClr val="D5E3E0"/>
            </a:solidFill>
            <a:prstDash val="solid"/>
          </a:ln>
        </p:spPr>
      </p:sp>
      <p:sp>
        <p:nvSpPr>
          <p:cNvPr id="16" name="Text 14"/>
          <p:cNvSpPr txBox="1"/>
          <p:nvPr/>
        </p:nvSpPr>
        <p:spPr>
          <a:xfrm>
            <a:off x="694944" y="3621024"/>
            <a:ext cx="3108960" cy="77724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INTERPOLATION BOUNDARY</a:t>
            </a:r>
            <a:endParaRPr lang="en-US" sz="1100" dirty="0"/>
          </a:p>
          <a:p>
            <a:pPr indent="0" marL="0">
              <a:spcAft>
                <a:spcPts val="800"/>
              </a:spcAft>
              <a:buNone/>
            </a:pPr>
            <a:r>
              <a:rPr lang="en-US" sz="1350" b="1" dirty="0">
                <a:solidFill>
                  <a:srgbClr val="1D2A28"/>
                </a:solidFill>
                <a:latin typeface="Arial" pitchFamily="34" charset="0"/>
                <a:ea typeface="Arial" pitchFamily="34" charset="-122"/>
                <a:cs typeface="Arial" pitchFamily="34" charset="-120"/>
              </a:rPr>
              <a:t>c = 1  (P = T)</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Fits training data exactly: danger zone.</a:t>
            </a:r>
            <a:endParaRPr lang="en-US" sz="1100" dirty="0"/>
          </a:p>
        </p:txBody>
      </p:sp>
      <p:sp>
        <p:nvSpPr>
          <p:cNvPr id="17" name="Shape 15"/>
          <p:cNvSpPr/>
          <p:nvPr/>
        </p:nvSpPr>
        <p:spPr>
          <a:xfrm>
            <a:off x="4069080" y="1371600"/>
            <a:ext cx="4572000" cy="3108960"/>
          </a:xfrm>
          <a:prstGeom prst="roundRect">
            <a:avLst>
              <a:gd name="adj" fmla="val 2941"/>
            </a:avLst>
          </a:prstGeom>
          <a:solidFill>
            <a:srgbClr val="FFFFFF"/>
          </a:solidFill>
          <a:ln w="12700">
            <a:solidFill>
              <a:srgbClr val="D5E3E0"/>
            </a:solidFill>
            <a:prstDash val="solid"/>
          </a:ln>
        </p:spPr>
      </p:sp>
      <p:graphicFrame>
        <p:nvGraphicFramePr>
          <p:cNvPr id="18" name="Chart 0" descr=""/>
          <p:cNvGraphicFramePr/>
          <p:nvPr/>
        </p:nvGraphicFramePr>
        <p:xfrm>
          <a:off x="4160520" y="1444752"/>
          <a:ext cx="4389120" cy="297180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3" name="Shape 1"/>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4" name="Shape 2"/>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5" name="Shape 3"/>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Text 7"/>
          <p:cNvSpPr txBox="1"/>
          <p:nvPr/>
        </p:nvSpPr>
        <p:spPr>
          <a:xfrm>
            <a:off x="512064" y="329184"/>
            <a:ext cx="8138160" cy="566928"/>
          </a:xfrm>
          <a:prstGeom prst="rect">
            <a:avLst/>
          </a:prstGeom>
          <a:noFill/>
          <a:ln/>
        </p:spPr>
        <p:txBody>
          <a:bodyPr wrap="square" lIns="0" tIns="0" rIns="0" bIns="0" rtlCol="0" anchor="ctr"/>
          <a:lstStyle/>
          <a:p>
            <a:pPr indent="0" marL="0">
              <a:buNone/>
            </a:pPr>
            <a:r>
              <a:rPr lang="en-US" sz="3600" b="1" dirty="0">
                <a:solidFill>
                  <a:srgbClr val="2F3836"/>
                </a:solidFill>
                <a:latin typeface="Arial" pitchFamily="34" charset="0"/>
                <a:ea typeface="Arial" pitchFamily="34" charset="-122"/>
                <a:cs typeface="Arial" pitchFamily="34" charset="-120"/>
              </a:rPr>
              <a:t>Results / Findings</a:t>
            </a:r>
            <a:endParaRPr lang="en-US" sz="3600" dirty="0"/>
          </a:p>
        </p:txBody>
      </p:sp>
      <p:sp>
        <p:nvSpPr>
          <p:cNvPr id="10" name="Text 8"/>
          <p:cNvSpPr txBox="1"/>
          <p:nvPr/>
        </p:nvSpPr>
        <p:spPr>
          <a:xfrm>
            <a:off x="512064" y="896112"/>
            <a:ext cx="8138160" cy="329184"/>
          </a:xfrm>
          <a:prstGeom prst="rect">
            <a:avLst/>
          </a:prstGeom>
          <a:noFill/>
          <a:ln/>
        </p:spPr>
        <p:txBody>
          <a:bodyPr wrap="square" lIns="0" tIns="0" rIns="0" bIns="0" rtlCol="0" anchor="ctr"/>
          <a:lstStyle/>
          <a:p>
            <a:pPr indent="0" marL="0">
              <a:buNone/>
            </a:pPr>
            <a:r>
              <a:rPr lang="en-US" sz="1600" dirty="0">
                <a:solidFill>
                  <a:srgbClr val="4A5F5C"/>
                </a:solidFill>
                <a:latin typeface="Calibri" pitchFamily="34" charset="0"/>
                <a:ea typeface="Calibri" pitchFamily="34" charset="-122"/>
                <a:cs typeface="Calibri" pitchFamily="34" charset="-120"/>
              </a:rPr>
              <a:t>Table I (12-month window)</a:t>
            </a:r>
            <a:endParaRPr lang="en-US" sz="1600" dirty="0"/>
          </a:p>
        </p:txBody>
      </p:sp>
      <p:sp>
        <p:nvSpPr>
          <p:cNvPr id="11" name="Shape 9"/>
          <p:cNvSpPr/>
          <p:nvPr/>
        </p:nvSpPr>
        <p:spPr>
          <a:xfrm>
            <a:off x="512064" y="1371600"/>
            <a:ext cx="5120640" cy="3127248"/>
          </a:xfrm>
          <a:prstGeom prst="roundRect">
            <a:avLst>
              <a:gd name="adj" fmla="val 2924"/>
            </a:avLst>
          </a:prstGeom>
          <a:solidFill>
            <a:srgbClr val="FFFFFF"/>
          </a:solidFill>
          <a:ln w="12700">
            <a:solidFill>
              <a:srgbClr val="D5E3E0"/>
            </a:solidFill>
            <a:prstDash val="solid"/>
          </a:ln>
        </p:spPr>
      </p:sp>
      <p:graphicFrame>
        <p:nvGraphicFramePr>
          <p:cNvPr id="12" name="Chart 0" descr=""/>
          <p:cNvGraphicFramePr/>
          <p:nvPr/>
        </p:nvGraphicFramePr>
        <p:xfrm>
          <a:off x="603504" y="1444752"/>
          <a:ext cx="4937760" cy="2980944"/>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5897880" y="1371600"/>
            <a:ext cx="2743200" cy="475488"/>
          </a:xfrm>
          <a:prstGeom prst="rect">
            <a:avLst/>
          </a:prstGeom>
          <a:noFill/>
          <a:ln/>
        </p:spPr>
        <p:txBody>
          <a:bodyPr wrap="square" lIns="0" tIns="0" rIns="0" bIns="0" rtlCol="0" anchor="ctr"/>
          <a:lstStyle/>
          <a:p>
            <a:pPr indent="0" marL="0">
              <a:buNone/>
            </a:pPr>
            <a:r>
              <a:rPr lang="en-US" sz="3000" b="1" dirty="0">
                <a:solidFill>
                  <a:srgbClr val="C06A33"/>
                </a:solidFill>
                <a:latin typeface="Arial" pitchFamily="34" charset="0"/>
                <a:ea typeface="Arial" pitchFamily="34" charset="-122"/>
                <a:cs typeface="Arial" pitchFamily="34" charset="-120"/>
              </a:rPr>
              <a:t>0.6%</a:t>
            </a:r>
            <a:endParaRPr lang="en-US" sz="3000" dirty="0"/>
          </a:p>
        </p:txBody>
      </p:sp>
      <p:sp>
        <p:nvSpPr>
          <p:cNvPr id="14" name="Text 11"/>
          <p:cNvSpPr txBox="1"/>
          <p:nvPr/>
        </p:nvSpPr>
        <p:spPr>
          <a:xfrm>
            <a:off x="5897880" y="1847088"/>
            <a:ext cx="2743200" cy="457200"/>
          </a:xfrm>
          <a:prstGeom prst="rect">
            <a:avLst/>
          </a:prstGeom>
          <a:noFill/>
          <a:ln/>
        </p:spPr>
        <p:txBody>
          <a:bodyPr wrap="square" lIns="0" tIns="0" rIns="0" bIns="0" rtlCol="0" anchor="t"/>
          <a:lstStyle/>
          <a:p>
            <a:pPr indent="0" marL="0">
              <a:buNone/>
            </a:pPr>
            <a:r>
              <a:rPr lang="en-US" sz="1250" dirty="0">
                <a:solidFill>
                  <a:srgbClr val="4A5F5C"/>
                </a:solidFill>
                <a:latin typeface="Calibri" pitchFamily="34" charset="0"/>
                <a:ea typeface="Calibri" pitchFamily="34" charset="-122"/>
                <a:cs typeface="Calibri" pitchFamily="34" charset="-120"/>
              </a:rPr>
              <a:t>out-of-sample R²: tiny, yet profitable</a:t>
            </a:r>
            <a:endParaRPr lang="en-US" sz="1250" dirty="0"/>
          </a:p>
        </p:txBody>
      </p:sp>
      <p:sp>
        <p:nvSpPr>
          <p:cNvPr id="15" name="Text 12"/>
          <p:cNvSpPr txBox="1"/>
          <p:nvPr/>
        </p:nvSpPr>
        <p:spPr>
          <a:xfrm>
            <a:off x="5897880" y="2441448"/>
            <a:ext cx="2743200" cy="475488"/>
          </a:xfrm>
          <a:prstGeom prst="rect">
            <a:avLst/>
          </a:prstGeom>
          <a:noFill/>
          <a:ln/>
        </p:spPr>
        <p:txBody>
          <a:bodyPr wrap="square" lIns="0" tIns="0" rIns="0" bIns="0" rtlCol="0" anchor="ctr"/>
          <a:lstStyle/>
          <a:p>
            <a:pPr indent="0" marL="0">
              <a:buNone/>
            </a:pPr>
            <a:r>
              <a:rPr lang="en-US" sz="3000" b="1" dirty="0">
                <a:solidFill>
                  <a:srgbClr val="C06A33"/>
                </a:solidFill>
                <a:latin typeface="Arial" pitchFamily="34" charset="0"/>
                <a:ea typeface="Arial" pitchFamily="34" charset="-122"/>
                <a:cs typeface="Arial" pitchFamily="34" charset="-120"/>
              </a:rPr>
              <a:t>t = 2.9</a:t>
            </a:r>
            <a:endParaRPr lang="en-US" sz="3000" dirty="0"/>
          </a:p>
        </p:txBody>
      </p:sp>
      <p:sp>
        <p:nvSpPr>
          <p:cNvPr id="16" name="Text 13"/>
          <p:cNvSpPr txBox="1"/>
          <p:nvPr/>
        </p:nvSpPr>
        <p:spPr>
          <a:xfrm>
            <a:off x="5897880" y="2916936"/>
            <a:ext cx="2743200" cy="457200"/>
          </a:xfrm>
          <a:prstGeom prst="rect">
            <a:avLst/>
          </a:prstGeom>
          <a:noFill/>
          <a:ln/>
        </p:spPr>
        <p:txBody>
          <a:bodyPr wrap="square" lIns="0" tIns="0" rIns="0" bIns="0" rtlCol="0" anchor="t"/>
          <a:lstStyle/>
          <a:p>
            <a:pPr indent="0" marL="0">
              <a:buNone/>
            </a:pPr>
            <a:r>
              <a:rPr lang="en-US" sz="1250" dirty="0">
                <a:solidFill>
                  <a:srgbClr val="4A5F5C"/>
                </a:solidFill>
                <a:latin typeface="Calibri" pitchFamily="34" charset="0"/>
                <a:ea typeface="Calibri" pitchFamily="34" charset="-122"/>
                <a:cs typeface="Calibri" pitchFamily="34" charset="-120"/>
              </a:rPr>
              <a:t>alpha t-stat vs. the market (IR ≈ 0.3)</a:t>
            </a:r>
            <a:endParaRPr lang="en-US" sz="1250" dirty="0"/>
          </a:p>
        </p:txBody>
      </p:sp>
      <p:sp>
        <p:nvSpPr>
          <p:cNvPr id="17" name="Text 14"/>
          <p:cNvSpPr txBox="1"/>
          <p:nvPr/>
        </p:nvSpPr>
        <p:spPr>
          <a:xfrm>
            <a:off x="5897880" y="3511296"/>
            <a:ext cx="2743200" cy="475488"/>
          </a:xfrm>
          <a:prstGeom prst="rect">
            <a:avLst/>
          </a:prstGeom>
          <a:noFill/>
          <a:ln/>
        </p:spPr>
        <p:txBody>
          <a:bodyPr wrap="square" lIns="0" tIns="0" rIns="0" bIns="0" rtlCol="0" anchor="ctr"/>
          <a:lstStyle/>
          <a:p>
            <a:pPr indent="0" marL="0">
              <a:buNone/>
            </a:pPr>
            <a:r>
              <a:rPr lang="en-US" sz="3000" b="1" dirty="0">
                <a:solidFill>
                  <a:srgbClr val="C06A33"/>
                </a:solidFill>
                <a:latin typeface="Arial" pitchFamily="34" charset="0"/>
                <a:ea typeface="Arial" pitchFamily="34" charset="-122"/>
                <a:cs typeface="Arial" pitchFamily="34" charset="-120"/>
              </a:rPr>
              <a:t>14 of 15</a:t>
            </a:r>
            <a:endParaRPr lang="en-US" sz="3000" dirty="0"/>
          </a:p>
        </p:txBody>
      </p:sp>
      <p:sp>
        <p:nvSpPr>
          <p:cNvPr id="18" name="Text 15"/>
          <p:cNvSpPr txBox="1"/>
          <p:nvPr/>
        </p:nvSpPr>
        <p:spPr>
          <a:xfrm>
            <a:off x="5897880" y="3986784"/>
            <a:ext cx="2743200" cy="457200"/>
          </a:xfrm>
          <a:prstGeom prst="rect">
            <a:avLst/>
          </a:prstGeom>
          <a:noFill/>
          <a:ln/>
        </p:spPr>
        <p:txBody>
          <a:bodyPr wrap="square" lIns="0" tIns="0" rIns="0" bIns="0" rtlCol="0" anchor="t"/>
          <a:lstStyle/>
          <a:p>
            <a:pPr indent="0" marL="0">
              <a:buNone/>
            </a:pPr>
            <a:r>
              <a:rPr lang="en-US" sz="1250" dirty="0">
                <a:solidFill>
                  <a:srgbClr val="4A5F5C"/>
                </a:solidFill>
                <a:latin typeface="Calibri" pitchFamily="34" charset="0"/>
                <a:ea typeface="Calibri" pitchFamily="34" charset="-122"/>
                <a:cs typeface="Calibri" pitchFamily="34" charset="-120"/>
              </a:rPr>
              <a:t>recessions exited in advance</a:t>
            </a:r>
            <a:endParaRPr lang="en-US" sz="1250" dirty="0"/>
          </a:p>
        </p:txBody>
      </p:sp>
      <p:sp>
        <p:nvSpPr>
          <p:cNvPr id="19" name="Text 16"/>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3" name="Shape 1"/>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4" name="Shape 2"/>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5" name="Shape 3"/>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Text 7"/>
          <p:cNvSpPr txBox="1"/>
          <p:nvPr/>
        </p:nvSpPr>
        <p:spPr>
          <a:xfrm>
            <a:off x="512064" y="329184"/>
            <a:ext cx="8138160" cy="566928"/>
          </a:xfrm>
          <a:prstGeom prst="rect">
            <a:avLst/>
          </a:prstGeom>
          <a:noFill/>
          <a:ln/>
        </p:spPr>
        <p:txBody>
          <a:bodyPr wrap="square" lIns="0" tIns="0" rIns="0" bIns="0" rtlCol="0" anchor="ctr"/>
          <a:lstStyle/>
          <a:p>
            <a:pPr indent="0" marL="0">
              <a:buNone/>
            </a:pPr>
            <a:r>
              <a:rPr lang="en-US" sz="3600" b="1" dirty="0">
                <a:solidFill>
                  <a:srgbClr val="2F3836"/>
                </a:solidFill>
                <a:latin typeface="Arial" pitchFamily="34" charset="0"/>
                <a:ea typeface="Arial" pitchFamily="34" charset="-122"/>
                <a:cs typeface="Arial" pitchFamily="34" charset="-120"/>
              </a:rPr>
              <a:t>Conclusion</a:t>
            </a:r>
            <a:endParaRPr lang="en-US" sz="3600" dirty="0"/>
          </a:p>
        </p:txBody>
      </p:sp>
      <p:sp>
        <p:nvSpPr>
          <p:cNvPr id="10" name="Text 8"/>
          <p:cNvSpPr txBox="1"/>
          <p:nvPr/>
        </p:nvSpPr>
        <p:spPr>
          <a:xfrm>
            <a:off x="512064" y="1143000"/>
            <a:ext cx="4937760" cy="3429000"/>
          </a:xfrm>
          <a:prstGeom prst="rect">
            <a:avLst/>
          </a:prstGeom>
          <a:noFill/>
          <a:ln/>
        </p:spPr>
        <p:txBody>
          <a:bodyPr wrap="square" lIns="0" tIns="0" rIns="0" bIns="0" rtlCol="0" anchor="t"/>
          <a:lstStyle/>
          <a:p>
            <a:pPr marL="203200" indent="-203200">
              <a:spcAft>
                <a:spcPts val="1100"/>
              </a:spcAft>
              <a:buSzPct val="100000"/>
              <a:buChar char="•"/>
            </a:pPr>
            <a:r>
              <a:rPr lang="en-US" sz="1500" b="1" dirty="0">
                <a:solidFill>
                  <a:srgbClr val="14201E"/>
                </a:solidFill>
                <a:latin typeface="Calibri" pitchFamily="34" charset="0"/>
                <a:ea typeface="Calibri" pitchFamily="34" charset="-122"/>
                <a:cs typeface="Calibri" pitchFamily="34" charset="-120"/>
              </a:rPr>
              <a:t>Complexity is a virtue: </a:t>
            </a:r>
            <a:pPr indent="0" marL="0">
              <a:buNone/>
            </a:pPr>
            <a:r>
              <a:rPr lang="en-US" sz="1500" dirty="0">
                <a:solidFill>
                  <a:srgbClr val="14201E"/>
                </a:solidFill>
                <a:latin typeface="Calibri" pitchFamily="34" charset="0"/>
                <a:ea typeface="Calibri" pitchFamily="34" charset="-122"/>
                <a:cs typeface="Calibri" pitchFamily="34" charset="-120"/>
              </a:rPr>
              <a:t>performance rises with model size, given shrinkage.</a:t>
            </a:r>
            <a:endParaRPr lang="en-US" sz="1500" dirty="0"/>
          </a:p>
          <a:p>
            <a:pPr marL="203200" indent="-203200">
              <a:spcAft>
                <a:spcPts val="1100"/>
              </a:spcAft>
              <a:buSzPct val="100000"/>
              <a:buChar char="•"/>
            </a:pPr>
            <a:r>
              <a:rPr lang="en-US" sz="1500" b="1" dirty="0">
                <a:solidFill>
                  <a:srgbClr val="14201E"/>
                </a:solidFill>
                <a:latin typeface="Calibri" pitchFamily="34" charset="0"/>
                <a:ea typeface="Calibri" pitchFamily="34" charset="-122"/>
                <a:cs typeface="Calibri" pitchFamily="34" charset="-120"/>
              </a:rPr>
              <a:t>R² is incomplete: </a:t>
            </a:r>
            <a:pPr indent="0" marL="0">
              <a:buNone/>
            </a:pPr>
            <a:r>
              <a:rPr lang="en-US" sz="1500" dirty="0">
                <a:solidFill>
                  <a:srgbClr val="14201E"/>
                </a:solidFill>
                <a:latin typeface="Calibri" pitchFamily="34" charset="0"/>
                <a:ea typeface="Calibri" pitchFamily="34" charset="-122"/>
                <a:cs typeface="Calibri" pitchFamily="34" charset="-120"/>
              </a:rPr>
              <a:t>a tiny R² can still earn a strong Sharpe ratio.</a:t>
            </a:r>
            <a:endParaRPr lang="en-US" sz="1500" dirty="0"/>
          </a:p>
          <a:p>
            <a:pPr marL="203200" indent="-203200">
              <a:spcAft>
                <a:spcPts val="1100"/>
              </a:spcAft>
              <a:buSzPct val="100000"/>
              <a:buChar char="•"/>
            </a:pPr>
            <a:r>
              <a:rPr lang="en-US" sz="1500" b="1" dirty="0">
                <a:solidFill>
                  <a:srgbClr val="14201E"/>
                </a:solidFill>
                <a:latin typeface="Calibri" pitchFamily="34" charset="0"/>
                <a:ea typeface="Calibri" pitchFamily="34" charset="-122"/>
                <a:cs typeface="Calibri" pitchFamily="34" charset="-120"/>
              </a:rPr>
              <a:t>Goyal &amp; Welch revisited: </a:t>
            </a:r>
            <a:pPr indent="0" marL="0">
              <a:buNone/>
            </a:pPr>
            <a:r>
              <a:rPr lang="en-US" sz="1500" dirty="0">
                <a:solidFill>
                  <a:srgbClr val="14201E"/>
                </a:solidFill>
                <a:latin typeface="Calibri" pitchFamily="34" charset="0"/>
                <a:ea typeface="Calibri" pitchFamily="34" charset="-122"/>
                <a:cs typeface="Calibri" pitchFamily="34" charset="-120"/>
              </a:rPr>
              <a:t>the predictors work; the unshrunk model failed.</a:t>
            </a:r>
            <a:endParaRPr lang="en-US" sz="1500" dirty="0"/>
          </a:p>
          <a:p>
            <a:pPr marL="203200" indent="-203200">
              <a:spcAft>
                <a:spcPts val="1100"/>
              </a:spcAft>
              <a:buSzPct val="100000"/>
              <a:buChar char="•"/>
            </a:pPr>
            <a:r>
              <a:rPr lang="en-US" sz="1500" b="1" dirty="0">
                <a:solidFill>
                  <a:srgbClr val="14201E"/>
                </a:solidFill>
                <a:latin typeface="Calibri" pitchFamily="34" charset="0"/>
                <a:ea typeface="Calibri" pitchFamily="34" charset="-122"/>
                <a:cs typeface="Calibri" pitchFamily="34" charset="-120"/>
              </a:rPr>
              <a:t>Sensible behavior: </a:t>
            </a:r>
            <a:pPr indent="0" marL="0">
              <a:buNone/>
            </a:pPr>
            <a:r>
              <a:rPr lang="en-US" sz="1500" dirty="0">
                <a:solidFill>
                  <a:srgbClr val="14201E"/>
                </a:solidFill>
                <a:latin typeface="Calibri" pitchFamily="34" charset="0"/>
                <a:ea typeface="Calibri" pitchFamily="34" charset="-122"/>
                <a:cs typeface="Calibri" pitchFamily="34" charset="-120"/>
              </a:rPr>
              <a:t>mostly long-only, exits before recessions.</a:t>
            </a:r>
            <a:endParaRPr lang="en-US" sz="1500" dirty="0"/>
          </a:p>
          <a:p>
            <a:pPr marL="203200" indent="-203200">
              <a:spcAft>
                <a:spcPts val="1100"/>
              </a:spcAft>
              <a:buSzPct val="100000"/>
              <a:buChar char="•"/>
            </a:pPr>
            <a:r>
              <a:rPr lang="en-US" sz="1500" b="1" dirty="0">
                <a:solidFill>
                  <a:srgbClr val="14201E"/>
                </a:solidFill>
                <a:latin typeface="Calibri" pitchFamily="34" charset="0"/>
                <a:ea typeface="Calibri" pitchFamily="34" charset="-122"/>
                <a:cs typeface="Calibri" pitchFamily="34" charset="-120"/>
              </a:rPr>
              <a:t>Caveat: </a:t>
            </a:r>
            <a:pPr indent="0" marL="0">
              <a:buNone/>
            </a:pPr>
            <a:r>
              <a:rPr lang="en-US" sz="1500" dirty="0">
                <a:solidFill>
                  <a:srgbClr val="14201E"/>
                </a:solidFill>
                <a:latin typeface="Calibri" pitchFamily="34" charset="0"/>
                <a:ea typeface="Calibri" pitchFamily="34" charset="-122"/>
                <a:cs typeface="Calibri" pitchFamily="34" charset="-120"/>
              </a:rPr>
              <a:t>results are weaker after 1975.</a:t>
            </a:r>
            <a:endParaRPr lang="en-US" sz="1500" dirty="0"/>
          </a:p>
        </p:txBody>
      </p:sp>
      <p:sp>
        <p:nvSpPr>
          <p:cNvPr id="11" name="Shape 9"/>
          <p:cNvSpPr/>
          <p:nvPr/>
        </p:nvSpPr>
        <p:spPr>
          <a:xfrm>
            <a:off x="5715000" y="1325880"/>
            <a:ext cx="2926080" cy="2148840"/>
          </a:xfrm>
          <a:prstGeom prst="roundRect">
            <a:avLst>
              <a:gd name="adj" fmla="val 4255"/>
            </a:avLst>
          </a:prstGeom>
          <a:solidFill>
            <a:srgbClr val="FFFFFF"/>
          </a:solidFill>
          <a:ln w="12700">
            <a:solidFill>
              <a:srgbClr val="D5E3E0"/>
            </a:solidFill>
            <a:prstDash val="solid"/>
          </a:ln>
        </p:spPr>
      </p:sp>
      <p:sp>
        <p:nvSpPr>
          <p:cNvPr id="12" name="Text 10"/>
          <p:cNvSpPr txBox="1"/>
          <p:nvPr/>
        </p:nvSpPr>
        <p:spPr>
          <a:xfrm>
            <a:off x="5943600" y="1554480"/>
            <a:ext cx="2514600" cy="256032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THE LESSON</a:t>
            </a:r>
            <a:endParaRPr lang="en-US" sz="1100" dirty="0"/>
          </a:p>
          <a:p>
            <a:pPr indent="0" marL="0">
              <a:spcAft>
                <a:spcPts val="800"/>
              </a:spcAft>
              <a:buNone/>
            </a:pPr>
            <a:r>
              <a:rPr lang="en-US" sz="1800" b="1" dirty="0">
                <a:solidFill>
                  <a:srgbClr val="1D2A28"/>
                </a:solidFill>
                <a:latin typeface="Arial" pitchFamily="34" charset="0"/>
                <a:ea typeface="Arial" pitchFamily="34" charset="-122"/>
                <a:cs typeface="Arial" pitchFamily="34" charset="-120"/>
              </a:rPr>
              <a:t>Use the largest model you can compute, and regularize it.</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Judge models by economic value, not only prediction error.</a:t>
            </a:r>
            <a:endParaRPr lang="en-US" sz="1100" dirty="0"/>
          </a:p>
        </p:txBody>
      </p:sp>
      <p:sp>
        <p:nvSpPr>
          <p:cNvPr id="13" name="Text 11"/>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3" name="Shape 1"/>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4" name="Shape 2"/>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5" name="Shape 3"/>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Text 7"/>
          <p:cNvSpPr txBox="1"/>
          <p:nvPr/>
        </p:nvSpPr>
        <p:spPr>
          <a:xfrm>
            <a:off x="512064" y="329184"/>
            <a:ext cx="8138160" cy="566928"/>
          </a:xfrm>
          <a:prstGeom prst="rect">
            <a:avLst/>
          </a:prstGeom>
          <a:noFill/>
          <a:ln/>
        </p:spPr>
        <p:txBody>
          <a:bodyPr wrap="square" lIns="0" tIns="0" rIns="0" bIns="0" rtlCol="0" anchor="ctr"/>
          <a:lstStyle/>
          <a:p>
            <a:pPr indent="0" marL="0">
              <a:buNone/>
            </a:pPr>
            <a:r>
              <a:rPr lang="en-US" sz="3600" b="1" dirty="0">
                <a:solidFill>
                  <a:srgbClr val="2F3836"/>
                </a:solidFill>
                <a:latin typeface="Arial" pitchFamily="34" charset="0"/>
                <a:ea typeface="Arial" pitchFamily="34" charset="-122"/>
                <a:cs typeface="Arial" pitchFamily="34" charset="-120"/>
              </a:rPr>
              <a:t>Application Importance</a:t>
            </a:r>
            <a:endParaRPr lang="en-US" sz="3600" dirty="0"/>
          </a:p>
        </p:txBody>
      </p:sp>
      <p:sp>
        <p:nvSpPr>
          <p:cNvPr id="10" name="Shape 8"/>
          <p:cNvSpPr/>
          <p:nvPr/>
        </p:nvSpPr>
        <p:spPr>
          <a:xfrm>
            <a:off x="512064" y="1143000"/>
            <a:ext cx="3931920" cy="2240280"/>
          </a:xfrm>
          <a:prstGeom prst="roundRect">
            <a:avLst>
              <a:gd name="adj" fmla="val 4082"/>
            </a:avLst>
          </a:prstGeom>
          <a:solidFill>
            <a:srgbClr val="FFFFFF"/>
          </a:solidFill>
          <a:ln w="12700">
            <a:solidFill>
              <a:srgbClr val="D5E3E0"/>
            </a:solidFill>
            <a:prstDash val="solid"/>
          </a:ln>
        </p:spPr>
      </p:sp>
      <p:sp>
        <p:nvSpPr>
          <p:cNvPr id="11" name="Text 9"/>
          <p:cNvSpPr txBox="1"/>
          <p:nvPr/>
        </p:nvSpPr>
        <p:spPr>
          <a:xfrm>
            <a:off x="731520" y="1325880"/>
            <a:ext cx="3520440" cy="3108960"/>
          </a:xfrm>
          <a:prstGeom prst="rect">
            <a:avLst/>
          </a:prstGeom>
          <a:noFill/>
          <a:ln/>
        </p:spPr>
        <p:txBody>
          <a:bodyPr wrap="square" lIns="0" tIns="0" rIns="0" bIns="0" rtlCol="0" anchor="t"/>
          <a:lstStyle/>
          <a:p>
            <a:pPr indent="0" marL="0">
              <a:spcAft>
                <a:spcPts val="1000"/>
              </a:spcAft>
              <a:buNone/>
            </a:pPr>
            <a:r>
              <a:rPr lang="en-US" sz="1100" b="1" spc="200" kern="0" dirty="0">
                <a:solidFill>
                  <a:srgbClr val="8A5A34"/>
                </a:solidFill>
                <a:latin typeface="Arial" pitchFamily="34" charset="0"/>
                <a:ea typeface="Arial" pitchFamily="34" charset="-122"/>
                <a:cs typeface="Arial" pitchFamily="34" charset="-120"/>
              </a:rPr>
              <a:t>REPRODUCIBILITY CHECK</a:t>
            </a:r>
            <a:endParaRPr lang="en-US" sz="1100" dirty="0"/>
          </a:p>
          <a:p>
            <a:pPr indent="0" marL="0">
              <a:buNone/>
            </a:pPr>
            <a:r>
              <a:rPr lang="en-US" sz="1350" dirty="0">
                <a:solidFill>
                  <a:srgbClr val="14201E"/>
                </a:solidFill>
                <a:latin typeface="Calibri" pitchFamily="34" charset="0"/>
                <a:ea typeface="Calibri" pitchFamily="34" charset="-122"/>
                <a:cs typeface="Calibri" pitchFamily="34" charset="-120"/>
              </a:rPr>
              <a:t>Code and data are </a:t>
            </a:r>
            <a:pPr indent="0" marL="0">
              <a:buNone/>
            </a:pPr>
            <a:r>
              <a:rPr lang="en-US" sz="1350" b="1" dirty="0">
                <a:solidFill>
                  <a:srgbClr val="14201E"/>
                </a:solidFill>
                <a:latin typeface="Calibri" pitchFamily="34" charset="0"/>
                <a:ea typeface="Calibri" pitchFamily="34" charset="-122"/>
                <a:cs typeface="Calibri" pitchFamily="34" charset="-120"/>
              </a:rPr>
              <a:t>public</a:t>
            </a:r>
            <a:pPr indent="0" marL="0">
              <a:spcAft>
                <a:spcPts val="1000"/>
              </a:spcAft>
              <a:buNone/>
            </a:pPr>
            <a:r>
              <a:rPr lang="en-US" sz="1350" dirty="0">
                <a:solidFill>
                  <a:srgbClr val="14201E"/>
                </a:solidFill>
                <a:latin typeface="Calibri" pitchFamily="34" charset="0"/>
                <a:ea typeface="Calibri" pitchFamily="34" charset="-122"/>
                <a:cs typeface="Calibri" pitchFamily="34" charset="-120"/>
              </a:rPr>
              <a:t>: official MATLAB code and free Goyal-Welch data.</a:t>
            </a:r>
            <a:endParaRPr lang="en-US" sz="1100" dirty="0"/>
          </a:p>
          <a:p>
            <a:pPr indent="0" marL="0">
              <a:buNone/>
            </a:pPr>
            <a:r>
              <a:rPr lang="en-US" sz="1350" dirty="0">
                <a:solidFill>
                  <a:srgbClr val="14201E"/>
                </a:solidFill>
                <a:latin typeface="Calibri" pitchFamily="34" charset="0"/>
                <a:ea typeface="Calibri" pitchFamily="34" charset="-122"/>
                <a:cs typeface="Calibri" pitchFamily="34" charset="-120"/>
              </a:rPr>
              <a:t>My laptop re-run took </a:t>
            </a:r>
            <a:pPr indent="0" marL="0">
              <a:buNone/>
            </a:pPr>
            <a:r>
              <a:rPr lang="en-US" sz="1350" b="1" dirty="0">
                <a:solidFill>
                  <a:srgbClr val="14201E"/>
                </a:solidFill>
                <a:latin typeface="Calibri" pitchFamily="34" charset="0"/>
                <a:ea typeface="Calibri" pitchFamily="34" charset="-122"/>
                <a:cs typeface="Calibri" pitchFamily="34" charset="-120"/>
              </a:rPr>
              <a:t>3 minutes</a:t>
            </a:r>
            <a:pPr indent="0" marL="0">
              <a:spcAft>
                <a:spcPts val="1000"/>
              </a:spcAft>
              <a:buNone/>
            </a:pPr>
            <a:r>
              <a:rPr lang="en-US" sz="1350" dirty="0">
                <a:solidFill>
                  <a:srgbClr val="14201E"/>
                </a:solidFill>
                <a:latin typeface="Calibri" pitchFamily="34" charset="0"/>
                <a:ea typeface="Calibri" pitchFamily="34" charset="-122"/>
                <a:cs typeface="Calibri" pitchFamily="34" charset="-120"/>
              </a:rPr>
              <a:t>: Sharpe 0.40, IR 0.26, t 2.5 vs. the paper’s 0.47, 0.31, 2.9.</a:t>
            </a:r>
            <a:endParaRPr lang="en-US" sz="1100" dirty="0"/>
          </a:p>
          <a:p>
            <a:pPr indent="0" marL="0">
              <a:buNone/>
            </a:pPr>
            <a:r>
              <a:rPr lang="en-US" sz="1350" b="1" dirty="0">
                <a:solidFill>
                  <a:srgbClr val="14201E"/>
                </a:solidFill>
                <a:latin typeface="Calibri" pitchFamily="34" charset="0"/>
                <a:ea typeface="Calibri" pitchFamily="34" charset="-122"/>
                <a:cs typeface="Calibri" pitchFamily="34" charset="-120"/>
              </a:rPr>
              <a:t>Link to Paper 1: </a:t>
            </a:r>
            <a:pPr indent="0" marL="0">
              <a:buNone/>
            </a:pPr>
            <a:r>
              <a:rPr lang="en-US" sz="1350" dirty="0">
                <a:solidFill>
                  <a:srgbClr val="14201E"/>
                </a:solidFill>
                <a:latin typeface="Calibri" pitchFamily="34" charset="0"/>
                <a:ea typeface="Calibri" pitchFamily="34" charset="-122"/>
                <a:cs typeface="Calibri" pitchFamily="34" charset="-120"/>
              </a:rPr>
              <a:t>Khan et al. claim 85-91% accuracy; realistic predictability is closer to R² ≈ 1%.</a:t>
            </a:r>
            <a:endParaRPr lang="en-US" sz="1100" dirty="0"/>
          </a:p>
        </p:txBody>
      </p:sp>
      <p:sp>
        <p:nvSpPr>
          <p:cNvPr id="12" name="Text 10"/>
          <p:cNvSpPr txBox="1"/>
          <p:nvPr/>
        </p:nvSpPr>
        <p:spPr>
          <a:xfrm>
            <a:off x="4709160" y="1143000"/>
            <a:ext cx="3931920" cy="320040"/>
          </a:xfrm>
          <a:prstGeom prst="rect">
            <a:avLst/>
          </a:prstGeom>
          <a:noFill/>
          <a:ln/>
        </p:spPr>
        <p:txBody>
          <a:bodyPr wrap="square" lIns="0" tIns="0" rIns="0" bIns="0" rtlCol="0" anchor="ctr"/>
          <a:lstStyle/>
          <a:p>
            <a:pPr indent="0" marL="0">
              <a:buNone/>
            </a:pPr>
            <a:r>
              <a:rPr lang="en-US" sz="1600" b="1" dirty="0">
                <a:solidFill>
                  <a:srgbClr val="2F3836"/>
                </a:solidFill>
                <a:latin typeface="Arial" pitchFamily="34" charset="0"/>
                <a:ea typeface="Arial" pitchFamily="34" charset="-122"/>
                <a:cs typeface="Arial" pitchFamily="34" charset="-120"/>
              </a:rPr>
              <a:t>Potential advances I would pursue</a:t>
            </a:r>
            <a:endParaRPr lang="en-US" sz="1600" dirty="0"/>
          </a:p>
        </p:txBody>
      </p:sp>
      <p:sp>
        <p:nvSpPr>
          <p:cNvPr id="13" name="Text 11"/>
          <p:cNvSpPr txBox="1"/>
          <p:nvPr/>
        </p:nvSpPr>
        <p:spPr>
          <a:xfrm>
            <a:off x="4709160" y="1572768"/>
            <a:ext cx="3931920" cy="297180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14201E"/>
                </a:solidFill>
                <a:latin typeface="Calibri" pitchFamily="34" charset="0"/>
                <a:ea typeface="Calibri" pitchFamily="34" charset="-122"/>
                <a:cs typeface="Calibri" pitchFamily="34" charset="-120"/>
              </a:rPr>
              <a:t>Add </a:t>
            </a:r>
            <a:pPr indent="0" marL="0">
              <a:buNone/>
            </a:pPr>
            <a:r>
              <a:rPr lang="en-US" sz="1400" b="1" dirty="0">
                <a:solidFill>
                  <a:srgbClr val="14201E"/>
                </a:solidFill>
                <a:latin typeface="Calibri" pitchFamily="34" charset="0"/>
                <a:ea typeface="Calibri" pitchFamily="34" charset="-122"/>
                <a:cs typeface="Calibri" pitchFamily="34" charset="-120"/>
              </a:rPr>
              <a:t>transaction costs</a:t>
            </a:r>
            <a:pPr indent="0" marL="0">
              <a:buNone/>
            </a:pPr>
            <a:r>
              <a:rPr lang="en-US" sz="1400" dirty="0">
                <a:solidFill>
                  <a:srgbClr val="14201E"/>
                </a:solidFill>
                <a:latin typeface="Calibri" pitchFamily="34" charset="0"/>
                <a:ea typeface="Calibri" pitchFamily="34" charset="-122"/>
                <a:cs typeface="Calibri" pitchFamily="34" charset="-120"/>
              </a:rPr>
              <a:t> and a </a:t>
            </a:r>
            <a:pPr indent="0" marL="0">
              <a:buNone/>
            </a:pPr>
            <a:r>
              <a:rPr lang="en-US" sz="1400" b="1" dirty="0">
                <a:solidFill>
                  <a:srgbClr val="14201E"/>
                </a:solidFill>
                <a:latin typeface="Calibri" pitchFamily="34" charset="0"/>
                <a:ea typeface="Calibri" pitchFamily="34" charset="-122"/>
                <a:cs typeface="Calibri" pitchFamily="34" charset="-120"/>
              </a:rPr>
              <a:t>leverage cap</a:t>
            </a:r>
            <a:pPr indent="0" marL="0">
              <a:buNone/>
            </a:pPr>
            <a:r>
              <a:rPr lang="en-US" sz="1400" dirty="0">
                <a:solidFill>
                  <a:srgbClr val="14201E"/>
                </a:solidFill>
                <a:latin typeface="Calibri" pitchFamily="34" charset="0"/>
                <a:ea typeface="Calibri" pitchFamily="34" charset="-122"/>
                <a:cs typeface="Calibri" pitchFamily="34" charset="-120"/>
              </a:rPr>
              <a:t>.</a:t>
            </a:r>
            <a:endParaRPr lang="en-US" sz="1400" dirty="0"/>
          </a:p>
          <a:p>
            <a:pPr marL="203200" indent="-203200">
              <a:spcAft>
                <a:spcPts val="900"/>
              </a:spcAft>
              <a:buSzPct val="100000"/>
              <a:buChar char="•"/>
            </a:pPr>
            <a:r>
              <a:rPr lang="en-US" sz="1400" dirty="0">
                <a:solidFill>
                  <a:srgbClr val="14201E"/>
                </a:solidFill>
                <a:latin typeface="Calibri" pitchFamily="34" charset="0"/>
                <a:ea typeface="Calibri" pitchFamily="34" charset="-122"/>
                <a:cs typeface="Calibri" pitchFamily="34" charset="-120"/>
              </a:rPr>
              <a:t>Test on </a:t>
            </a:r>
            <a:pPr indent="0" marL="0">
              <a:buNone/>
            </a:pPr>
            <a:r>
              <a:rPr lang="en-US" sz="1400" b="1" dirty="0">
                <a:solidFill>
                  <a:srgbClr val="14201E"/>
                </a:solidFill>
                <a:latin typeface="Calibri" pitchFamily="34" charset="0"/>
                <a:ea typeface="Calibri" pitchFamily="34" charset="-122"/>
                <a:cs typeface="Calibri" pitchFamily="34" charset="-120"/>
              </a:rPr>
              <a:t>post-2020 data</a:t>
            </a:r>
            <a:pPr indent="0" marL="0">
              <a:buNone/>
            </a:pPr>
            <a:r>
              <a:rPr lang="en-US" sz="1400" dirty="0">
                <a:solidFill>
                  <a:srgbClr val="14201E"/>
                </a:solidFill>
                <a:latin typeface="Calibri" pitchFamily="34" charset="0"/>
                <a:ea typeface="Calibri" pitchFamily="34" charset="-122"/>
                <a:cs typeface="Calibri" pitchFamily="34" charset="-120"/>
              </a:rPr>
              <a:t>.</a:t>
            </a:r>
            <a:endParaRPr lang="en-US" sz="1400" dirty="0"/>
          </a:p>
          <a:p>
            <a:pPr marL="203200" indent="-203200">
              <a:spcAft>
                <a:spcPts val="900"/>
              </a:spcAft>
              <a:buSzPct val="100000"/>
              <a:buChar char="•"/>
            </a:pPr>
            <a:r>
              <a:rPr lang="en-US" sz="1400" dirty="0">
                <a:solidFill>
                  <a:srgbClr val="14201E"/>
                </a:solidFill>
                <a:latin typeface="Calibri" pitchFamily="34" charset="0"/>
                <a:ea typeface="Calibri" pitchFamily="34" charset="-122"/>
                <a:cs typeface="Calibri" pitchFamily="34" charset="-120"/>
              </a:rPr>
              <a:t>Separate the signal from </a:t>
            </a:r>
            <a:pPr indent="0" marL="0">
              <a:buNone/>
            </a:pPr>
            <a:r>
              <a:rPr lang="en-US" sz="1400" b="1" dirty="0">
                <a:solidFill>
                  <a:srgbClr val="14201E"/>
                </a:solidFill>
                <a:latin typeface="Calibri" pitchFamily="34" charset="0"/>
                <a:ea typeface="Calibri" pitchFamily="34" charset="-122"/>
                <a:cs typeface="Calibri" pitchFamily="34" charset="-120"/>
              </a:rPr>
              <a:t>time-series momentum</a:t>
            </a:r>
            <a:pPr indent="0" marL="0">
              <a:buNone/>
            </a:pPr>
            <a:r>
              <a:rPr lang="en-US" sz="1400" dirty="0">
                <a:solidFill>
                  <a:srgbClr val="14201E"/>
                </a:solidFill>
                <a:latin typeface="Calibri" pitchFamily="34" charset="0"/>
                <a:ea typeface="Calibri" pitchFamily="34" charset="-122"/>
                <a:cs typeface="Calibri" pitchFamily="34" charset="-120"/>
              </a:rPr>
              <a:t>.</a:t>
            </a:r>
            <a:endParaRPr lang="en-US" sz="1400" dirty="0"/>
          </a:p>
          <a:p>
            <a:pPr marL="203200" indent="-203200">
              <a:spcAft>
                <a:spcPts val="900"/>
              </a:spcAft>
              <a:buSzPct val="100000"/>
              <a:buChar char="•"/>
            </a:pPr>
            <a:r>
              <a:rPr lang="en-US" sz="1400" dirty="0">
                <a:solidFill>
                  <a:srgbClr val="14201E"/>
                </a:solidFill>
                <a:latin typeface="Calibri" pitchFamily="34" charset="0"/>
                <a:ea typeface="Calibri" pitchFamily="34" charset="-122"/>
                <a:cs typeface="Calibri" pitchFamily="34" charset="-120"/>
              </a:rPr>
              <a:t>Extend to a </a:t>
            </a:r>
            <a:pPr indent="0" marL="0">
              <a:buNone/>
            </a:pPr>
            <a:r>
              <a:rPr lang="en-US" sz="1400" b="1" dirty="0">
                <a:solidFill>
                  <a:srgbClr val="14201E"/>
                </a:solidFill>
                <a:latin typeface="Calibri" pitchFamily="34" charset="0"/>
                <a:ea typeface="Calibri" pitchFamily="34" charset="-122"/>
                <a:cs typeface="Calibri" pitchFamily="34" charset="-120"/>
              </a:rPr>
              <a:t>panel of stocks</a:t>
            </a:r>
            <a:pPr indent="0" marL="0">
              <a:buNone/>
            </a:pPr>
            <a:r>
              <a:rPr lang="en-US" sz="1400" dirty="0">
                <a:solidFill>
                  <a:srgbClr val="14201E"/>
                </a:solidFill>
                <a:latin typeface="Calibri" pitchFamily="34" charset="0"/>
                <a:ea typeface="Calibri" pitchFamily="34" charset="-122"/>
                <a:cs typeface="Calibri" pitchFamily="34" charset="-120"/>
              </a:rPr>
              <a:t>.</a:t>
            </a:r>
            <a:endParaRPr lang="en-US" sz="1400" dirty="0"/>
          </a:p>
          <a:p>
            <a:pPr marL="203200" indent="-203200">
              <a:spcAft>
                <a:spcPts val="900"/>
              </a:spcAft>
              <a:buSzPct val="100000"/>
              <a:buChar char="•"/>
            </a:pPr>
            <a:r>
              <a:rPr lang="en-US" sz="1400" dirty="0">
                <a:solidFill>
                  <a:srgbClr val="14201E"/>
                </a:solidFill>
                <a:latin typeface="Calibri" pitchFamily="34" charset="0"/>
                <a:ea typeface="Calibri" pitchFamily="34" charset="-122"/>
                <a:cs typeface="Calibri" pitchFamily="34" charset="-120"/>
              </a:rPr>
              <a:t>Predict </a:t>
            </a:r>
            <a:pPr indent="0" marL="0">
              <a:buNone/>
            </a:pPr>
            <a:r>
              <a:rPr lang="en-US" sz="1400" b="1" dirty="0">
                <a:solidFill>
                  <a:srgbClr val="14201E"/>
                </a:solidFill>
                <a:latin typeface="Calibri" pitchFamily="34" charset="0"/>
                <a:ea typeface="Calibri" pitchFamily="34" charset="-122"/>
                <a:cs typeface="Calibri" pitchFamily="34" charset="-120"/>
              </a:rPr>
              <a:t>raw returns</a:t>
            </a:r>
            <a:pPr indent="0" marL="0">
              <a:buNone/>
            </a:pPr>
            <a:r>
              <a:rPr lang="en-US" sz="1400" dirty="0">
                <a:solidFill>
                  <a:srgbClr val="14201E"/>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8F7"/>
        </a:solidFill>
      </p:bgPr>
    </p:bg>
    <p:spTree>
      <p:nvGrpSpPr>
        <p:cNvPr id="1" name=""/>
        <p:cNvGrpSpPr/>
        <p:nvPr/>
      </p:nvGrpSpPr>
      <p:grpSpPr>
        <a:xfrm>
          <a:off x="0" y="0"/>
          <a:ext cx="0" cy="0"/>
          <a:chOff x="0" y="0"/>
          <a:chExt cx="0" cy="0"/>
        </a:xfrm>
      </p:grpSpPr>
      <p:sp>
        <p:nvSpPr>
          <p:cNvPr id="2" name="Shape 0"/>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3" name="Shape 1"/>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4" name="Shape 2"/>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5" name="Shape 3"/>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Text 7"/>
          <p:cNvSpPr txBox="1"/>
          <p:nvPr/>
        </p:nvSpPr>
        <p:spPr>
          <a:xfrm>
            <a:off x="512064" y="329184"/>
            <a:ext cx="8138160" cy="566928"/>
          </a:xfrm>
          <a:prstGeom prst="rect">
            <a:avLst/>
          </a:prstGeom>
          <a:noFill/>
          <a:ln/>
        </p:spPr>
        <p:txBody>
          <a:bodyPr wrap="square" lIns="0" tIns="0" rIns="0" bIns="0" rtlCol="0" anchor="ctr"/>
          <a:lstStyle/>
          <a:p>
            <a:pPr indent="0" marL="0">
              <a:buNone/>
            </a:pPr>
            <a:r>
              <a:rPr lang="en-US" sz="3600" b="1" dirty="0">
                <a:solidFill>
                  <a:srgbClr val="2F3836"/>
                </a:solidFill>
                <a:latin typeface="Arial" pitchFamily="34" charset="0"/>
                <a:ea typeface="Arial" pitchFamily="34" charset="-122"/>
                <a:cs typeface="Arial" pitchFamily="34" charset="-120"/>
              </a:rPr>
              <a:t>Relative Work References</a:t>
            </a:r>
            <a:endParaRPr lang="en-US" sz="3600" dirty="0"/>
          </a:p>
        </p:txBody>
      </p:sp>
      <p:sp>
        <p:nvSpPr>
          <p:cNvPr id="10" name="Shape 8"/>
          <p:cNvSpPr/>
          <p:nvPr/>
        </p:nvSpPr>
        <p:spPr>
          <a:xfrm>
            <a:off x="512064" y="1097280"/>
            <a:ext cx="3995928" cy="1261872"/>
          </a:xfrm>
          <a:prstGeom prst="roundRect">
            <a:avLst>
              <a:gd name="adj" fmla="val 7246"/>
            </a:avLst>
          </a:prstGeom>
          <a:solidFill>
            <a:srgbClr val="FFFFFF"/>
          </a:solidFill>
          <a:ln w="12700">
            <a:solidFill>
              <a:srgbClr val="D5E3E0"/>
            </a:solidFill>
            <a:prstDash val="solid"/>
          </a:ln>
        </p:spPr>
      </p:sp>
      <p:sp>
        <p:nvSpPr>
          <p:cNvPr id="11" name="Text 9"/>
          <p:cNvSpPr txBox="1"/>
          <p:nvPr/>
        </p:nvSpPr>
        <p:spPr>
          <a:xfrm>
            <a:off x="713232" y="1225296"/>
            <a:ext cx="3611880" cy="105156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GOYAL &amp; WELCH (2008)</a:t>
            </a:r>
            <a:endParaRPr lang="en-US" sz="1100" dirty="0"/>
          </a:p>
          <a:p>
            <a:pPr indent="0" marL="0">
              <a:spcAft>
                <a:spcPts val="800"/>
              </a:spcAft>
              <a:buNone/>
            </a:pPr>
            <a:r>
              <a:rPr lang="en-US" sz="1400" b="1" dirty="0">
                <a:solidFill>
                  <a:srgbClr val="1D2A28"/>
                </a:solidFill>
                <a:latin typeface="Arial" pitchFamily="34" charset="0"/>
                <a:ea typeface="Arial" pitchFamily="34" charset="-122"/>
                <a:cs typeface="Arial" pitchFamily="34" charset="-120"/>
              </a:rPr>
              <a:t>Market predictors fail out of sample</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Negative out-of-sample R²; the benchmark this paper overturns.</a:t>
            </a:r>
            <a:endParaRPr lang="en-US" sz="1100" dirty="0"/>
          </a:p>
        </p:txBody>
      </p:sp>
      <p:sp>
        <p:nvSpPr>
          <p:cNvPr id="12" name="Shape 10"/>
          <p:cNvSpPr/>
          <p:nvPr/>
        </p:nvSpPr>
        <p:spPr>
          <a:xfrm>
            <a:off x="4645152" y="1097280"/>
            <a:ext cx="3995928" cy="1261872"/>
          </a:xfrm>
          <a:prstGeom prst="roundRect">
            <a:avLst>
              <a:gd name="adj" fmla="val 7246"/>
            </a:avLst>
          </a:prstGeom>
          <a:solidFill>
            <a:srgbClr val="FFFFFF"/>
          </a:solidFill>
          <a:ln w="12700">
            <a:solidFill>
              <a:srgbClr val="D5E3E0"/>
            </a:solidFill>
            <a:prstDash val="solid"/>
          </a:ln>
        </p:spPr>
      </p:sp>
      <p:sp>
        <p:nvSpPr>
          <p:cNvPr id="13" name="Text 11"/>
          <p:cNvSpPr txBox="1"/>
          <p:nvPr/>
        </p:nvSpPr>
        <p:spPr>
          <a:xfrm>
            <a:off x="4846320" y="1225296"/>
            <a:ext cx="3611880" cy="105156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CAMPBELL &amp; THOMPSON (2008)</a:t>
            </a:r>
            <a:endParaRPr lang="en-US" sz="1100" dirty="0"/>
          </a:p>
          <a:p>
            <a:pPr indent="0" marL="0">
              <a:spcAft>
                <a:spcPts val="800"/>
              </a:spcAft>
              <a:buNone/>
            </a:pPr>
            <a:r>
              <a:rPr lang="en-US" sz="1400" b="1" dirty="0">
                <a:solidFill>
                  <a:srgbClr val="1D2A28"/>
                </a:solidFill>
                <a:latin typeface="Arial" pitchFamily="34" charset="0"/>
                <a:ea typeface="Arial" pitchFamily="34" charset="-122"/>
                <a:cs typeface="Arial" pitchFamily="34" charset="-120"/>
              </a:rPr>
              <a:t>Restrictions rescue forecasts</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Non-negative forecasts help; the ML model learns this itself.</a:t>
            </a:r>
            <a:endParaRPr lang="en-US" sz="1100" dirty="0"/>
          </a:p>
        </p:txBody>
      </p:sp>
      <p:sp>
        <p:nvSpPr>
          <p:cNvPr id="14" name="Shape 12"/>
          <p:cNvSpPr/>
          <p:nvPr/>
        </p:nvSpPr>
        <p:spPr>
          <a:xfrm>
            <a:off x="512064" y="2487168"/>
            <a:ext cx="3995928" cy="1261872"/>
          </a:xfrm>
          <a:prstGeom prst="roundRect">
            <a:avLst>
              <a:gd name="adj" fmla="val 7246"/>
            </a:avLst>
          </a:prstGeom>
          <a:solidFill>
            <a:srgbClr val="FFFFFF"/>
          </a:solidFill>
          <a:ln w="12700">
            <a:solidFill>
              <a:srgbClr val="D5E3E0"/>
            </a:solidFill>
            <a:prstDash val="solid"/>
          </a:ln>
        </p:spPr>
      </p:sp>
      <p:sp>
        <p:nvSpPr>
          <p:cNvPr id="15" name="Text 13"/>
          <p:cNvSpPr txBox="1"/>
          <p:nvPr/>
        </p:nvSpPr>
        <p:spPr>
          <a:xfrm>
            <a:off x="713232" y="2615184"/>
            <a:ext cx="3611880" cy="105156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RAPACH, STRAUSS &amp; ZHOU (2010)</a:t>
            </a:r>
            <a:endParaRPr lang="en-US" sz="1100" dirty="0"/>
          </a:p>
          <a:p>
            <a:pPr indent="0" marL="0">
              <a:spcAft>
                <a:spcPts val="800"/>
              </a:spcAft>
              <a:buNone/>
            </a:pPr>
            <a:r>
              <a:rPr lang="en-US" sz="1400" b="1" dirty="0">
                <a:solidFill>
                  <a:srgbClr val="1D2A28"/>
                </a:solidFill>
                <a:latin typeface="Arial" pitchFamily="34" charset="0"/>
                <a:ea typeface="Arial" pitchFamily="34" charset="-122"/>
                <a:cs typeface="Arial" pitchFamily="34" charset="-120"/>
              </a:rPr>
              <a:t>Forecast combination = shrinkage</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Averaging forecasts acts as shrinkage.</a:t>
            </a:r>
            <a:endParaRPr lang="en-US" sz="1100" dirty="0"/>
          </a:p>
        </p:txBody>
      </p:sp>
      <p:sp>
        <p:nvSpPr>
          <p:cNvPr id="16" name="Shape 14"/>
          <p:cNvSpPr/>
          <p:nvPr/>
        </p:nvSpPr>
        <p:spPr>
          <a:xfrm>
            <a:off x="4645152" y="2487168"/>
            <a:ext cx="3995928" cy="1261872"/>
          </a:xfrm>
          <a:prstGeom prst="roundRect">
            <a:avLst>
              <a:gd name="adj" fmla="val 7246"/>
            </a:avLst>
          </a:prstGeom>
          <a:solidFill>
            <a:srgbClr val="FFFFFF"/>
          </a:solidFill>
          <a:ln w="12700">
            <a:solidFill>
              <a:srgbClr val="D5E3E0"/>
            </a:solidFill>
            <a:prstDash val="solid"/>
          </a:ln>
        </p:spPr>
      </p:sp>
      <p:sp>
        <p:nvSpPr>
          <p:cNvPr id="17" name="Text 15"/>
          <p:cNvSpPr txBox="1"/>
          <p:nvPr/>
        </p:nvSpPr>
        <p:spPr>
          <a:xfrm>
            <a:off x="4846320" y="2615184"/>
            <a:ext cx="3611880" cy="1051560"/>
          </a:xfrm>
          <a:prstGeom prst="rect">
            <a:avLst/>
          </a:prstGeom>
          <a:noFill/>
          <a:ln/>
        </p:spPr>
        <p:txBody>
          <a:bodyPr wrap="square" lIns="0" tIns="0" rIns="0" bIns="0" rtlCol="0" anchor="t"/>
          <a:lstStyle/>
          <a:p>
            <a:pPr indent="0" marL="0">
              <a:spcAft>
                <a:spcPts val="800"/>
              </a:spcAft>
              <a:buNone/>
            </a:pPr>
            <a:r>
              <a:rPr lang="en-US" sz="1100" b="1" spc="200" kern="0" dirty="0">
                <a:solidFill>
                  <a:srgbClr val="8A5A34"/>
                </a:solidFill>
                <a:latin typeface="Arial" pitchFamily="34" charset="0"/>
                <a:ea typeface="Arial" pitchFamily="34" charset="-122"/>
                <a:cs typeface="Arial" pitchFamily="34" charset="-120"/>
              </a:rPr>
              <a:t>GU, KELLY &amp; XIU (2020)</a:t>
            </a:r>
            <a:endParaRPr lang="en-US" sz="1100" dirty="0"/>
          </a:p>
          <a:p>
            <a:pPr indent="0" marL="0">
              <a:spcAft>
                <a:spcPts val="800"/>
              </a:spcAft>
              <a:buNone/>
            </a:pPr>
            <a:r>
              <a:rPr lang="en-US" sz="1400" b="1" dirty="0">
                <a:solidFill>
                  <a:srgbClr val="1D2A28"/>
                </a:solidFill>
                <a:latin typeface="Arial" pitchFamily="34" charset="0"/>
                <a:ea typeface="Arial" pitchFamily="34" charset="-122"/>
                <a:cs typeface="Arial" pitchFamily="34" charset="-120"/>
              </a:rPr>
              <a:t>ML in empirical asset pricing</a:t>
            </a:r>
            <a:endParaRPr lang="en-US" sz="1100" dirty="0"/>
          </a:p>
          <a:p>
            <a:pPr indent="0" marL="0">
              <a:buNone/>
            </a:pPr>
            <a:r>
              <a:rPr lang="en-US" sz="1300" dirty="0">
                <a:solidFill>
                  <a:srgbClr val="4A5350"/>
                </a:solidFill>
                <a:latin typeface="Calibri" pitchFamily="34" charset="0"/>
                <a:ea typeface="Calibri" pitchFamily="34" charset="-122"/>
                <a:cs typeface="Calibri" pitchFamily="34" charset="-120"/>
              </a:rPr>
              <a:t>ML predicts returns well; this paper explains why.</a:t>
            </a:r>
            <a:endParaRPr lang="en-US" sz="1100" dirty="0"/>
          </a:p>
        </p:txBody>
      </p:sp>
      <p:sp>
        <p:nvSpPr>
          <p:cNvPr id="18" name="Text 16"/>
          <p:cNvSpPr txBox="1"/>
          <p:nvPr/>
        </p:nvSpPr>
        <p:spPr>
          <a:xfrm>
            <a:off x="512064" y="3931920"/>
            <a:ext cx="8138160" cy="640080"/>
          </a:xfrm>
          <a:prstGeom prst="rect">
            <a:avLst/>
          </a:prstGeom>
          <a:noFill/>
          <a:ln/>
        </p:spPr>
        <p:txBody>
          <a:bodyPr wrap="square" lIns="0" tIns="0" rIns="0" bIns="0" rtlCol="0" anchor="t"/>
          <a:lstStyle/>
          <a:p>
            <a:pPr indent="0" marL="0">
              <a:buNone/>
            </a:pPr>
            <a:r>
              <a:rPr lang="en-US" sz="1300" b="1" dirty="0">
                <a:solidFill>
                  <a:srgbClr val="4A5F5C"/>
                </a:solidFill>
                <a:latin typeface="Calibri" pitchFamily="34" charset="0"/>
                <a:ea typeface="Calibri" pitchFamily="34" charset="-122"/>
                <a:cs typeface="Calibri" pitchFamily="34" charset="-120"/>
              </a:rPr>
              <a:t>Theory: </a:t>
            </a:r>
            <a:pPr indent="0" marL="0">
              <a:buNone/>
            </a:pPr>
            <a:r>
              <a:rPr lang="en-US" sz="1300" dirty="0">
                <a:solidFill>
                  <a:srgbClr val="4A5F5C"/>
                </a:solidFill>
                <a:latin typeface="Calibri" pitchFamily="34" charset="0"/>
                <a:ea typeface="Calibri" pitchFamily="34" charset="-122"/>
                <a:cs typeface="Calibri" pitchFamily="34" charset="-120"/>
              </a:rPr>
              <a:t>Rahimi &amp; Recht (2007) · Bartlett et al. (2020) · Hastie et al. (2022).  Critique: Nagel (2025), momentum.</a:t>
            </a:r>
            <a:endParaRPr lang="en-US" sz="1300" dirty="0"/>
          </a:p>
        </p:txBody>
      </p:sp>
      <p:sp>
        <p:nvSpPr>
          <p:cNvPr id="19" name="Text 17"/>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CEBE8"/>
        </a:solidFill>
      </p:bgPr>
    </p:bg>
    <p:spTree>
      <p:nvGrpSpPr>
        <p:cNvPr id="1" name=""/>
        <p:cNvGrpSpPr/>
        <p:nvPr/>
      </p:nvGrpSpPr>
      <p:grpSpPr>
        <a:xfrm>
          <a:off x="0" y="0"/>
          <a:ext cx="0" cy="0"/>
          <a:chOff x="0" y="0"/>
          <a:chExt cx="0" cy="0"/>
        </a:xfrm>
      </p:grpSpPr>
      <p:sp>
        <p:nvSpPr>
          <p:cNvPr id="2" name="Shape 0"/>
          <p:cNvSpPr/>
          <p:nvPr/>
        </p:nvSpPr>
        <p:spPr>
          <a:xfrm>
            <a:off x="5632704" y="-996696"/>
            <a:ext cx="4279392" cy="4279392"/>
          </a:xfrm>
          <a:prstGeom prst="ellipse">
            <a:avLst/>
          </a:prstGeom>
          <a:solidFill>
            <a:srgbClr val="FFFFFF">
              <a:alpha val="0"/>
            </a:srgbClr>
          </a:solidFill>
          <a:ln w="19050">
            <a:solidFill>
              <a:srgbClr val="5C8F8A">
                <a:alpha val="25000"/>
              </a:srgbClr>
            </a:solidFill>
            <a:prstDash val="solid"/>
          </a:ln>
        </p:spPr>
      </p:sp>
      <p:sp>
        <p:nvSpPr>
          <p:cNvPr id="3" name="Shape 1"/>
          <p:cNvSpPr/>
          <p:nvPr/>
        </p:nvSpPr>
        <p:spPr>
          <a:xfrm>
            <a:off x="6117336" y="-512064"/>
            <a:ext cx="3310128" cy="3310128"/>
          </a:xfrm>
          <a:prstGeom prst="ellipse">
            <a:avLst/>
          </a:prstGeom>
          <a:solidFill>
            <a:srgbClr val="FFFFFF">
              <a:alpha val="0"/>
            </a:srgbClr>
          </a:solidFill>
          <a:ln w="19050">
            <a:solidFill>
              <a:srgbClr val="5C8F8A">
                <a:alpha val="25000"/>
              </a:srgbClr>
            </a:solidFill>
            <a:prstDash val="solid"/>
          </a:ln>
        </p:spPr>
      </p:sp>
      <p:sp>
        <p:nvSpPr>
          <p:cNvPr id="4" name="Shape 2"/>
          <p:cNvSpPr/>
          <p:nvPr/>
        </p:nvSpPr>
        <p:spPr>
          <a:xfrm>
            <a:off x="6702552" y="73152"/>
            <a:ext cx="2139696" cy="2139696"/>
          </a:xfrm>
          <a:prstGeom prst="ellipse">
            <a:avLst/>
          </a:prstGeom>
          <a:solidFill>
            <a:srgbClr val="FFFFFF">
              <a:alpha val="0"/>
            </a:srgbClr>
          </a:solidFill>
          <a:ln w="19050">
            <a:solidFill>
              <a:srgbClr val="5C8F8A">
                <a:alpha val="25000"/>
              </a:srgbClr>
            </a:solidFill>
            <a:prstDash val="solid"/>
          </a:ln>
        </p:spPr>
      </p:sp>
      <p:sp>
        <p:nvSpPr>
          <p:cNvPr id="5" name="Shape 3"/>
          <p:cNvSpPr/>
          <p:nvPr/>
        </p:nvSpPr>
        <p:spPr>
          <a:xfrm>
            <a:off x="100584" y="4283964"/>
            <a:ext cx="146304" cy="950976"/>
          </a:xfrm>
          <a:prstGeom prst="roundRect">
            <a:avLst>
              <a:gd name="adj" fmla="val 50000"/>
            </a:avLst>
          </a:prstGeom>
          <a:solidFill>
            <a:srgbClr val="5C8F8A">
              <a:alpha val="15000"/>
            </a:srgbClr>
          </a:solidFill>
          <a:ln w="12700">
            <a:solidFill>
              <a:srgbClr val="5C8F8A">
                <a:alpha val="0"/>
              </a:srgbClr>
            </a:solidFill>
            <a:prstDash val="solid"/>
          </a:ln>
        </p:spPr>
      </p:sp>
      <p:sp>
        <p:nvSpPr>
          <p:cNvPr id="6" name="Shape 4"/>
          <p:cNvSpPr/>
          <p:nvPr/>
        </p:nvSpPr>
        <p:spPr>
          <a:xfrm>
            <a:off x="329184" y="4539996"/>
            <a:ext cx="146304" cy="694944"/>
          </a:xfrm>
          <a:prstGeom prst="roundRect">
            <a:avLst>
              <a:gd name="adj" fmla="val 50000"/>
            </a:avLst>
          </a:prstGeom>
          <a:solidFill>
            <a:srgbClr val="5C8F8A">
              <a:alpha val="15000"/>
            </a:srgbClr>
          </a:solidFill>
          <a:ln w="12700">
            <a:solidFill>
              <a:srgbClr val="5C8F8A">
                <a:alpha val="0"/>
              </a:srgbClr>
            </a:solidFill>
            <a:prstDash val="solid"/>
          </a:ln>
        </p:spPr>
      </p:sp>
      <p:sp>
        <p:nvSpPr>
          <p:cNvPr id="7" name="Shape 5"/>
          <p:cNvSpPr/>
          <p:nvPr/>
        </p:nvSpPr>
        <p:spPr>
          <a:xfrm>
            <a:off x="557784" y="4101084"/>
            <a:ext cx="146304" cy="1133856"/>
          </a:xfrm>
          <a:prstGeom prst="roundRect">
            <a:avLst>
              <a:gd name="adj" fmla="val 50000"/>
            </a:avLst>
          </a:prstGeom>
          <a:solidFill>
            <a:srgbClr val="5C8F8A">
              <a:alpha val="15000"/>
            </a:srgbClr>
          </a:solidFill>
          <a:ln w="12700">
            <a:solidFill>
              <a:srgbClr val="5C8F8A">
                <a:alpha val="0"/>
              </a:srgbClr>
            </a:solidFill>
            <a:prstDash val="solid"/>
          </a:ln>
        </p:spPr>
      </p:sp>
      <p:sp>
        <p:nvSpPr>
          <p:cNvPr id="8" name="Shape 6"/>
          <p:cNvSpPr/>
          <p:nvPr/>
        </p:nvSpPr>
        <p:spPr>
          <a:xfrm>
            <a:off x="786384" y="4658868"/>
            <a:ext cx="146304" cy="576072"/>
          </a:xfrm>
          <a:prstGeom prst="roundRect">
            <a:avLst>
              <a:gd name="adj" fmla="val 50000"/>
            </a:avLst>
          </a:prstGeom>
          <a:solidFill>
            <a:srgbClr val="5C8F8A">
              <a:alpha val="15000"/>
            </a:srgbClr>
          </a:solidFill>
          <a:ln w="12700">
            <a:solidFill>
              <a:srgbClr val="5C8F8A">
                <a:alpha val="0"/>
              </a:srgbClr>
            </a:solidFill>
            <a:prstDash val="solid"/>
          </a:ln>
        </p:spPr>
      </p:sp>
      <p:sp>
        <p:nvSpPr>
          <p:cNvPr id="9" name="Shape 7"/>
          <p:cNvSpPr/>
          <p:nvPr/>
        </p:nvSpPr>
        <p:spPr>
          <a:xfrm>
            <a:off x="1014984" y="4375404"/>
            <a:ext cx="146304" cy="859536"/>
          </a:xfrm>
          <a:prstGeom prst="roundRect">
            <a:avLst>
              <a:gd name="adj" fmla="val 50000"/>
            </a:avLst>
          </a:prstGeom>
          <a:solidFill>
            <a:srgbClr val="5C8F8A">
              <a:alpha val="15000"/>
            </a:srgbClr>
          </a:solidFill>
          <a:ln w="12700">
            <a:solidFill>
              <a:srgbClr val="5C8F8A">
                <a:alpha val="0"/>
              </a:srgbClr>
            </a:solidFill>
            <a:prstDash val="solid"/>
          </a:ln>
        </p:spPr>
      </p:sp>
      <p:sp>
        <p:nvSpPr>
          <p:cNvPr id="10" name="Shape 8"/>
          <p:cNvSpPr/>
          <p:nvPr/>
        </p:nvSpPr>
        <p:spPr>
          <a:xfrm>
            <a:off x="1243584" y="4759452"/>
            <a:ext cx="146304" cy="475488"/>
          </a:xfrm>
          <a:prstGeom prst="roundRect">
            <a:avLst>
              <a:gd name="adj" fmla="val 50000"/>
            </a:avLst>
          </a:prstGeom>
          <a:solidFill>
            <a:srgbClr val="5C8F8A">
              <a:alpha val="15000"/>
            </a:srgbClr>
          </a:solidFill>
          <a:ln w="12700">
            <a:solidFill>
              <a:srgbClr val="5C8F8A">
                <a:alpha val="0"/>
              </a:srgbClr>
            </a:solidFill>
            <a:prstDash val="solid"/>
          </a:ln>
        </p:spPr>
      </p:sp>
      <p:sp>
        <p:nvSpPr>
          <p:cNvPr id="11" name="Shape 9"/>
          <p:cNvSpPr/>
          <p:nvPr/>
        </p:nvSpPr>
        <p:spPr>
          <a:xfrm>
            <a:off x="1472184" y="4210812"/>
            <a:ext cx="146304" cy="1024128"/>
          </a:xfrm>
          <a:prstGeom prst="roundRect">
            <a:avLst>
              <a:gd name="adj" fmla="val 50000"/>
            </a:avLst>
          </a:prstGeom>
          <a:solidFill>
            <a:srgbClr val="5C8F8A">
              <a:alpha val="15000"/>
            </a:srgbClr>
          </a:solidFill>
          <a:ln w="12700">
            <a:solidFill>
              <a:srgbClr val="5C8F8A">
                <a:alpha val="0"/>
              </a:srgbClr>
            </a:solidFill>
            <a:prstDash val="solid"/>
          </a:ln>
        </p:spPr>
      </p:sp>
      <p:sp>
        <p:nvSpPr>
          <p:cNvPr id="12" name="Text 10"/>
          <p:cNvSpPr txBox="1"/>
          <p:nvPr/>
        </p:nvSpPr>
        <p:spPr>
          <a:xfrm>
            <a:off x="548640" y="457200"/>
            <a:ext cx="6400800" cy="502920"/>
          </a:xfrm>
          <a:prstGeom prst="rect">
            <a:avLst/>
          </a:prstGeom>
          <a:noFill/>
          <a:ln/>
        </p:spPr>
        <p:txBody>
          <a:bodyPr wrap="square" lIns="0" tIns="0" rIns="0" bIns="0" rtlCol="0" anchor="ctr"/>
          <a:lstStyle/>
          <a:p>
            <a:pPr indent="0" marL="0">
              <a:buNone/>
            </a:pPr>
            <a:r>
              <a:rPr lang="en-US" sz="3000" b="1" dirty="0">
                <a:solidFill>
                  <a:srgbClr val="2F3836"/>
                </a:solidFill>
                <a:latin typeface="Arial" pitchFamily="34" charset="0"/>
                <a:ea typeface="Arial" pitchFamily="34" charset="-122"/>
                <a:cs typeface="Arial" pitchFamily="34" charset="-120"/>
              </a:rPr>
              <a:t>Research Paper Reference</a:t>
            </a:r>
            <a:endParaRPr lang="en-US" sz="3000" dirty="0"/>
          </a:p>
        </p:txBody>
      </p:sp>
      <p:sp>
        <p:nvSpPr>
          <p:cNvPr id="13" name="Shape 11"/>
          <p:cNvSpPr/>
          <p:nvPr/>
        </p:nvSpPr>
        <p:spPr>
          <a:xfrm>
            <a:off x="548640" y="1097280"/>
            <a:ext cx="6766560" cy="1600200"/>
          </a:xfrm>
          <a:prstGeom prst="roundRect">
            <a:avLst>
              <a:gd name="adj" fmla="val 5714"/>
            </a:avLst>
          </a:prstGeom>
          <a:solidFill>
            <a:srgbClr val="FFFFFF"/>
          </a:solidFill>
          <a:ln w="12700">
            <a:solidFill>
              <a:srgbClr val="D5E3E0"/>
            </a:solidFill>
            <a:prstDash val="solid"/>
          </a:ln>
        </p:spPr>
      </p:sp>
      <p:sp>
        <p:nvSpPr>
          <p:cNvPr id="14" name="Text 12"/>
          <p:cNvSpPr txBox="1"/>
          <p:nvPr/>
        </p:nvSpPr>
        <p:spPr>
          <a:xfrm>
            <a:off x="777240" y="1261872"/>
            <a:ext cx="6355080" cy="1325880"/>
          </a:xfrm>
          <a:prstGeom prst="rect">
            <a:avLst/>
          </a:prstGeom>
          <a:noFill/>
          <a:ln/>
        </p:spPr>
        <p:txBody>
          <a:bodyPr wrap="square" lIns="0" tIns="0" rIns="0" bIns="0" rtlCol="0" anchor="t"/>
          <a:lstStyle/>
          <a:p>
            <a:pPr indent="0" marL="0">
              <a:buNone/>
            </a:pPr>
            <a:r>
              <a:rPr lang="en-US" sz="1400" dirty="0">
                <a:solidFill>
                  <a:srgbClr val="14201E"/>
                </a:solidFill>
                <a:latin typeface="Calibri" pitchFamily="34" charset="0"/>
                <a:ea typeface="Calibri" pitchFamily="34" charset="-122"/>
                <a:cs typeface="Calibri" pitchFamily="34" charset="-120"/>
              </a:rPr>
              <a:t>Kelly, B., Malamud, S., &amp; Zhou, K. (2024). The virtue of complexity in return prediction. </a:t>
            </a:r>
            <a:pPr indent="0" marL="0">
              <a:buNone/>
            </a:pPr>
            <a:r>
              <a:rPr lang="en-US" sz="1400" i="1" dirty="0">
                <a:solidFill>
                  <a:srgbClr val="14201E"/>
                </a:solidFill>
                <a:latin typeface="Calibri" pitchFamily="34" charset="0"/>
                <a:ea typeface="Calibri" pitchFamily="34" charset="-122"/>
                <a:cs typeface="Calibri" pitchFamily="34" charset="-120"/>
              </a:rPr>
              <a:t>The Journal of Finance, 79</a:t>
            </a:r>
            <a:pPr indent="0" marL="0">
              <a:spcAft>
                <a:spcPts val="800"/>
              </a:spcAft>
              <a:buNone/>
            </a:pPr>
            <a:r>
              <a:rPr lang="en-US" sz="1400" dirty="0">
                <a:solidFill>
                  <a:srgbClr val="14201E"/>
                </a:solidFill>
                <a:latin typeface="Calibri" pitchFamily="34" charset="0"/>
                <a:ea typeface="Calibri" pitchFamily="34" charset="-122"/>
                <a:cs typeface="Calibri" pitchFamily="34" charset="-120"/>
              </a:rPr>
              <a:t>(1), 459-503.</a:t>
            </a:r>
            <a:endParaRPr lang="en-US" sz="1400" dirty="0"/>
          </a:p>
          <a:p>
            <a:pPr indent="0" marL="0">
              <a:spcAft>
                <a:spcPts val="800"/>
              </a:spcAft>
              <a:buNone/>
            </a:pPr>
            <a:r>
              <a:rPr lang="en-US" sz="1400" b="1" dirty="0">
                <a:solidFill>
                  <a:srgbClr val="C06A33"/>
                </a:solidFill>
                <a:latin typeface="Calibri" pitchFamily="34" charset="0"/>
                <a:ea typeface="Calibri" pitchFamily="34" charset="-122"/>
                <a:cs typeface="Calibri" pitchFamily="34" charset="-120"/>
              </a:rPr>
              <a:t>DOI: 10.1111/jofi.13298</a:t>
            </a:r>
            <a:endParaRPr lang="en-US" sz="1400" dirty="0"/>
          </a:p>
          <a:p>
            <a:pPr indent="0" marL="0">
              <a:buNone/>
            </a:pPr>
            <a:r>
              <a:rPr lang="en-US" sz="1250" dirty="0">
                <a:solidFill>
                  <a:srgbClr val="4A5350"/>
                </a:solidFill>
                <a:latin typeface="Calibri" pitchFamily="34" charset="0"/>
                <a:ea typeface="Calibri" pitchFamily="34" charset="-122"/>
                <a:cs typeface="Calibri" pitchFamily="34" charset="-120"/>
              </a:rPr>
              <a:t>Data: Goyal-Welch predictors, CRSP value-weighted index, 1926-2020</a:t>
            </a:r>
            <a:endParaRPr lang="en-US" sz="1400" dirty="0"/>
          </a:p>
        </p:txBody>
      </p:sp>
      <p:sp>
        <p:nvSpPr>
          <p:cNvPr id="15" name="Text 13"/>
          <p:cNvSpPr txBox="1"/>
          <p:nvPr/>
        </p:nvSpPr>
        <p:spPr>
          <a:xfrm>
            <a:off x="548640" y="3017520"/>
            <a:ext cx="5486400" cy="685800"/>
          </a:xfrm>
          <a:prstGeom prst="rect">
            <a:avLst/>
          </a:prstGeom>
          <a:noFill/>
          <a:ln/>
        </p:spPr>
        <p:txBody>
          <a:bodyPr wrap="square" lIns="0" tIns="0" rIns="0" bIns="0" rtlCol="0" anchor="ctr"/>
          <a:lstStyle/>
          <a:p>
            <a:pPr indent="0" marL="0">
              <a:buNone/>
            </a:pPr>
            <a:r>
              <a:rPr lang="en-US" sz="4400" b="1" dirty="0">
                <a:solidFill>
                  <a:srgbClr val="2F3836"/>
                </a:solidFill>
                <a:latin typeface="Arial" pitchFamily="34" charset="0"/>
                <a:ea typeface="Arial" pitchFamily="34" charset="-122"/>
                <a:cs typeface="Arial" pitchFamily="34" charset="-120"/>
              </a:rPr>
              <a:t>Thank you</a:t>
            </a:r>
            <a:endParaRPr lang="en-US" sz="4400" dirty="0"/>
          </a:p>
        </p:txBody>
      </p:sp>
      <p:sp>
        <p:nvSpPr>
          <p:cNvPr id="16" name="Text 14"/>
          <p:cNvSpPr txBox="1"/>
          <p:nvPr/>
        </p:nvSpPr>
        <p:spPr>
          <a:xfrm>
            <a:off x="548640" y="3703320"/>
            <a:ext cx="5486400" cy="365760"/>
          </a:xfrm>
          <a:prstGeom prst="rect">
            <a:avLst/>
          </a:prstGeom>
          <a:noFill/>
          <a:ln/>
        </p:spPr>
        <p:txBody>
          <a:bodyPr wrap="square" lIns="0" tIns="0" rIns="0" bIns="0" rtlCol="0" anchor="ctr"/>
          <a:lstStyle/>
          <a:p>
            <a:pPr indent="0" marL="0">
              <a:buNone/>
            </a:pPr>
            <a:r>
              <a:rPr lang="en-US" sz="1800" dirty="0">
                <a:solidFill>
                  <a:srgbClr val="4A5F5C"/>
                </a:solidFill>
                <a:latin typeface="Calibri" pitchFamily="34" charset="0"/>
                <a:ea typeface="Calibri" pitchFamily="34" charset="-122"/>
                <a:cs typeface="Calibri" pitchFamily="34" charset="-120"/>
              </a:rPr>
              <a:t>Questions welcome</a:t>
            </a:r>
            <a:endParaRPr lang="en-US" sz="1800" dirty="0"/>
          </a:p>
        </p:txBody>
      </p:sp>
      <p:sp>
        <p:nvSpPr>
          <p:cNvPr id="17" name="Text 15"/>
          <p:cNvSpPr txBox="1"/>
          <p:nvPr/>
        </p:nvSpPr>
        <p:spPr>
          <a:xfrm>
            <a:off x="5120640" y="4681728"/>
            <a:ext cx="3657600" cy="320040"/>
          </a:xfrm>
          <a:prstGeom prst="rect">
            <a:avLst/>
          </a:prstGeom>
          <a:noFill/>
          <a:ln/>
        </p:spPr>
        <p:txBody>
          <a:bodyPr wrap="square" lIns="0" tIns="0" rIns="0" bIns="0" rtlCol="0" anchor="ctr"/>
          <a:lstStyle/>
          <a:p>
            <a:pPr algn="r" indent="0" marL="0">
              <a:buNone/>
            </a:pPr>
            <a:r>
              <a:rPr lang="en-US" sz="1500" b="1" dirty="0">
                <a:solidFill>
                  <a:srgbClr val="3E6F6A"/>
                </a:solidFill>
                <a:latin typeface="Arial" pitchFamily="34" charset="0"/>
                <a:ea typeface="Arial" pitchFamily="34" charset="-122"/>
                <a:cs typeface="Arial" pitchFamily="34" charset="-120"/>
              </a:rPr>
              <a:t>Research Paper 2: Parent Paper</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Virtue of Complexity in Return Prediction</dc:title>
  <dc:subject>PptxGenJS Presentation</dc:subject>
  <dc:creator>Shreyansh Agarwal</dc:creator>
  <cp:lastModifiedBy>Shreyansh Agarwal</cp:lastModifiedBy>
  <cp:revision>1</cp:revision>
  <dcterms:created xsi:type="dcterms:W3CDTF">2026-09-27T23:21:49Z</dcterms:created>
  <dcterms:modified xsi:type="dcterms:W3CDTF">2026-09-27T23:21:49Z</dcterms:modified>
</cp:coreProperties>
</file>